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046" r:id="rId1"/>
  </p:sldMasterIdLst>
  <p:notesMasterIdLst>
    <p:notesMasterId r:id="rId20"/>
  </p:notes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 id="272" r:id="rId14"/>
    <p:sldId id="273" r:id="rId15"/>
    <p:sldId id="268" r:id="rId16"/>
    <p:sldId id="269" r:id="rId17"/>
    <p:sldId id="270" r:id="rId18"/>
    <p:sldId id="271" r:id="rId19"/>
  </p:sldIdLst>
  <p:sldSz cx="9144000" cy="5143500" type="screen16x9"/>
  <p:notesSz cx="6797675" cy="9926638"/>
  <p:defaultTextStyle>
    <a:defPPr lvl="0">
      <a:defRPr lang="en-US"/>
    </a:defPPr>
    <a:lvl1pPr lvl="0" algn="l" rtl="0" eaLnBrk="0" fontAlgn="base" hangingPunct="0">
      <a:spcBef>
        <a:spcPct val="0"/>
      </a:spcBef>
      <a:spcAft>
        <a:spcPct val="0"/>
      </a:spcAft>
      <a:defRPr kern="1200">
        <a:solidFill>
          <a:schemeClr val="tx1"/>
        </a:solidFill>
        <a:latin typeface="Arial" charset="0"/>
        <a:ea typeface="+mn-ea"/>
        <a:cs typeface="Arial" charset="0"/>
      </a:defRPr>
    </a:lvl1pPr>
    <a:lvl2pPr marL="457200" lvl="1" algn="l" rtl="0" eaLnBrk="0" fontAlgn="base" hangingPunct="0">
      <a:spcBef>
        <a:spcPct val="0"/>
      </a:spcBef>
      <a:spcAft>
        <a:spcPct val="0"/>
      </a:spcAft>
      <a:defRPr kern="1200">
        <a:solidFill>
          <a:schemeClr val="tx1"/>
        </a:solidFill>
        <a:latin typeface="Arial" charset="0"/>
        <a:ea typeface="+mn-ea"/>
        <a:cs typeface="Arial" charset="0"/>
      </a:defRPr>
    </a:lvl2pPr>
    <a:lvl3pPr marL="914400" lvl="2" algn="l" rtl="0" eaLnBrk="0" fontAlgn="base" hangingPunct="0">
      <a:spcBef>
        <a:spcPct val="0"/>
      </a:spcBef>
      <a:spcAft>
        <a:spcPct val="0"/>
      </a:spcAft>
      <a:defRPr kern="1200">
        <a:solidFill>
          <a:schemeClr val="tx1"/>
        </a:solidFill>
        <a:latin typeface="Arial" charset="0"/>
        <a:ea typeface="+mn-ea"/>
        <a:cs typeface="Arial" charset="0"/>
      </a:defRPr>
    </a:lvl3pPr>
    <a:lvl4pPr marL="1371600" lvl="3" algn="l" rtl="0" eaLnBrk="0" fontAlgn="base" hangingPunct="0">
      <a:spcBef>
        <a:spcPct val="0"/>
      </a:spcBef>
      <a:spcAft>
        <a:spcPct val="0"/>
      </a:spcAft>
      <a:defRPr kern="1200">
        <a:solidFill>
          <a:schemeClr val="tx1"/>
        </a:solidFill>
        <a:latin typeface="Arial" charset="0"/>
        <a:ea typeface="+mn-ea"/>
        <a:cs typeface="Arial" charset="0"/>
      </a:defRPr>
    </a:lvl4pPr>
    <a:lvl5pPr marL="1828800" lvl="4" algn="l" rtl="0" eaLnBrk="0" fontAlgn="base" hangingPunct="0">
      <a:spcBef>
        <a:spcPct val="0"/>
      </a:spcBef>
      <a:spcAft>
        <a:spcPct val="0"/>
      </a:spcAft>
      <a:defRPr kern="1200">
        <a:solidFill>
          <a:schemeClr val="tx1"/>
        </a:solidFill>
        <a:latin typeface="Arial" charset="0"/>
        <a:ea typeface="+mn-ea"/>
        <a:cs typeface="Arial" charset="0"/>
      </a:defRPr>
    </a:lvl5pPr>
    <a:lvl6pPr marL="2286000" lvl="5" algn="l" defTabSz="914400" rtl="0" eaLnBrk="1" latinLnBrk="0" hangingPunct="1">
      <a:defRPr kern="1200">
        <a:solidFill>
          <a:schemeClr val="tx1"/>
        </a:solidFill>
        <a:latin typeface="Arial" charset="0"/>
        <a:ea typeface="+mn-ea"/>
        <a:cs typeface="Arial" charset="0"/>
      </a:defRPr>
    </a:lvl6pPr>
    <a:lvl7pPr marL="2743200" lvl="6" algn="l" defTabSz="914400" rtl="0" eaLnBrk="1" latinLnBrk="0" hangingPunct="1">
      <a:defRPr kern="1200">
        <a:solidFill>
          <a:schemeClr val="tx1"/>
        </a:solidFill>
        <a:latin typeface="Arial" charset="0"/>
        <a:ea typeface="+mn-ea"/>
        <a:cs typeface="Arial" charset="0"/>
      </a:defRPr>
    </a:lvl7pPr>
    <a:lvl8pPr marL="3200400" lvl="7" algn="l" defTabSz="914400" rtl="0" eaLnBrk="1" latinLnBrk="0" hangingPunct="1">
      <a:defRPr kern="1200">
        <a:solidFill>
          <a:schemeClr val="tx1"/>
        </a:solidFill>
        <a:latin typeface="Arial" charset="0"/>
        <a:ea typeface="+mn-ea"/>
        <a:cs typeface="Arial" charset="0"/>
      </a:defRPr>
    </a:lvl8pPr>
    <a:lvl9pPr marL="3657600" lvl="8"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2941" autoAdjust="0"/>
  </p:normalViewPr>
  <p:slideViewPr>
    <p:cSldViewPr snapToGrid="0">
      <p:cViewPr varScale="1">
        <p:scale>
          <a:sx n="101" d="100"/>
          <a:sy n="101" d="100"/>
        </p:scale>
        <p:origin x="1061"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4/11/2026</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2483742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4</a:t>
            </a:fld>
            <a:endParaRPr lang="en-US" altLang="en-US"/>
          </a:p>
        </p:txBody>
      </p:sp>
    </p:spTree>
    <p:extLst>
      <p:ext uri="{BB962C8B-B14F-4D97-AF65-F5344CB8AC3E}">
        <p14:creationId xmlns:p14="http://schemas.microsoft.com/office/powerpoint/2010/main" val="1180635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a:defRPr/>
            </a:pPr>
            <a:fld id="{96A0B9A4-208B-4E16-B555-2A51F0BFB952}"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C0A8E10E-36D1-42AB-939C-34BEB33CD9E4}" type="slidenum">
              <a:rPr lang="en-US" altLang="en-US" smtClean="0"/>
              <a:pPr>
                <a:defRPr/>
              </a:pPr>
              <a:t>‹#›</a:t>
            </a:fld>
            <a:endParaRPr lang="en-US" altLang="en-US"/>
          </a:p>
        </p:txBody>
      </p:sp>
    </p:spTree>
    <p:extLst>
      <p:ext uri="{BB962C8B-B14F-4D97-AF65-F5344CB8AC3E}">
        <p14:creationId xmlns:p14="http://schemas.microsoft.com/office/powerpoint/2010/main" val="32793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BB9E9B86-2CF4-48B1-B6D7-BAFE5AD3290E}"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Tree>
    <p:extLst>
      <p:ext uri="{BB962C8B-B14F-4D97-AF65-F5344CB8AC3E}">
        <p14:creationId xmlns:p14="http://schemas.microsoft.com/office/powerpoint/2010/main" val="147426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E39A8A3-5E40-4D37-96BF-4D03983E50A4}"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EE0AD74-942B-45F6-8EEE-203197083F56}" type="slidenum">
              <a:rPr lang="en-US" altLang="en-US" smtClean="0"/>
              <a:pPr>
                <a:defRPr/>
              </a:pPr>
              <a:t>‹#›</a:t>
            </a:fld>
            <a:endParaRPr lang="en-US" altLang="en-US"/>
          </a:p>
        </p:txBody>
      </p:sp>
    </p:spTree>
    <p:extLst>
      <p:ext uri="{BB962C8B-B14F-4D97-AF65-F5344CB8AC3E}">
        <p14:creationId xmlns:p14="http://schemas.microsoft.com/office/powerpoint/2010/main" val="1977922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a:defRPr/>
            </a:pPr>
            <a:fld id="{ECD3C294-6E8C-44B4-98BA-B71F441E11DA}" type="datetime3">
              <a:rPr lang="en-US" smtClean="0"/>
              <a:t>11 April 2026</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Tree>
    <p:extLst>
      <p:ext uri="{BB962C8B-B14F-4D97-AF65-F5344CB8AC3E}">
        <p14:creationId xmlns:p14="http://schemas.microsoft.com/office/powerpoint/2010/main" val="3397445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a:defRPr/>
            </a:pPr>
            <a:fld id="{D35EB36B-7579-4E22-A75C-1F345D5742FF}" type="datetime3">
              <a:rPr lang="en-US" smtClean="0"/>
              <a:t>11 April 2026</a:t>
            </a:fld>
            <a:endParaRPr lang="en-US" dirty="0"/>
          </a:p>
        </p:txBody>
      </p:sp>
      <p:sp>
        <p:nvSpPr>
          <p:cNvPr id="8" name="Footer Placeholder 7"/>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Tree>
    <p:extLst>
      <p:ext uri="{BB962C8B-B14F-4D97-AF65-F5344CB8AC3E}">
        <p14:creationId xmlns:p14="http://schemas.microsoft.com/office/powerpoint/2010/main" val="18201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a:defRPr/>
            </a:pPr>
            <a:fld id="{719CF55F-6193-48A8-A7F6-3FEF82D24804}" type="datetime3">
              <a:rPr lang="en-US" smtClean="0"/>
              <a:t>11 April 2026</a:t>
            </a:fld>
            <a:endParaRPr lang="en-US" dirty="0"/>
          </a:p>
        </p:txBody>
      </p:sp>
      <p:sp>
        <p:nvSpPr>
          <p:cNvPr id="4" name="Footer Placeholder 3"/>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Tree>
    <p:extLst>
      <p:ext uri="{BB962C8B-B14F-4D97-AF65-F5344CB8AC3E}">
        <p14:creationId xmlns:p14="http://schemas.microsoft.com/office/powerpoint/2010/main" val="3459019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401020D-54A8-4FFB-A1CA-FD4B919658D9}" type="datetime3">
              <a:rPr lang="en-US" smtClean="0"/>
              <a:t>11 April 2026</a:t>
            </a:fld>
            <a:endParaRPr lang="en-US" dirty="0"/>
          </a:p>
        </p:txBody>
      </p:sp>
      <p:sp>
        <p:nvSpPr>
          <p:cNvPr id="3" name="Footer Placeholder 2"/>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Tree>
    <p:extLst>
      <p:ext uri="{BB962C8B-B14F-4D97-AF65-F5344CB8AC3E}">
        <p14:creationId xmlns:p14="http://schemas.microsoft.com/office/powerpoint/2010/main" val="3391911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23D5D28-C9FF-4D3A-BB99-C138B6E9F587}" type="datetime3">
              <a:rPr lang="en-US" smtClean="0"/>
              <a:t>11 April 2026</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Tree>
    <p:extLst>
      <p:ext uri="{BB962C8B-B14F-4D97-AF65-F5344CB8AC3E}">
        <p14:creationId xmlns:p14="http://schemas.microsoft.com/office/powerpoint/2010/main" val="32435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38681E7-1AF9-42CC-BEC0-592AA2C12F55}" type="datetime3">
              <a:rPr lang="en-US" smtClean="0"/>
              <a:t>11 April 2026</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Tree>
    <p:extLst>
      <p:ext uri="{BB962C8B-B14F-4D97-AF65-F5344CB8AC3E}">
        <p14:creationId xmlns:p14="http://schemas.microsoft.com/office/powerpoint/2010/main" val="199975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2D2E4B7A-DF25-4C56-B396-6170996E16F8}"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extLst>
      <p:ext uri="{BB962C8B-B14F-4D97-AF65-F5344CB8AC3E}">
        <p14:creationId xmlns:p14="http://schemas.microsoft.com/office/powerpoint/2010/main" val="24584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C40D5A71-0894-4150-92A8-237524E8F949}"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Tree>
    <p:extLst>
      <p:ext uri="{BB962C8B-B14F-4D97-AF65-F5344CB8AC3E}">
        <p14:creationId xmlns:p14="http://schemas.microsoft.com/office/powerpoint/2010/main" val="6804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0B68EF4-4A93-4254-93FA-70D1F2A755E3}" type="datetime3">
              <a:rPr lang="en-US" smtClean="0"/>
              <a:t>11 April 2026</a:t>
            </a:fld>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78D2778-B29C-49DB-A26C-44F5760A332D}" type="slidenum">
              <a:rPr lang="en-US" altLang="en-US" smtClean="0"/>
              <a:pPr>
                <a:defRPr/>
              </a:pPr>
              <a:t>‹#›</a:t>
            </a:fld>
            <a:endParaRPr lang="en-US" altLang="en-US"/>
          </a:p>
        </p:txBody>
      </p:sp>
    </p:spTree>
    <p:extLst>
      <p:ext uri="{BB962C8B-B14F-4D97-AF65-F5344CB8AC3E}">
        <p14:creationId xmlns:p14="http://schemas.microsoft.com/office/powerpoint/2010/main" val="4095312722"/>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1gGxR0yZ6qk" TargetMode="External"/><Relationship Id="rId2" Type="http://schemas.openxmlformats.org/officeDocument/2006/relationships/hyperlink" Target="https://youtu.be/WqgRCDiuehU" TargetMode="External"/><Relationship Id="rId1" Type="http://schemas.openxmlformats.org/officeDocument/2006/relationships/slideLayout" Target="../slideLayouts/slideLayout2.xml"/><Relationship Id="rId6" Type="http://schemas.openxmlformats.org/officeDocument/2006/relationships/hyperlink" Target="https://www.arduino.cc/reference/en/" TargetMode="External"/><Relationship Id="rId5" Type="http://schemas.openxmlformats.org/officeDocument/2006/relationships/hyperlink" Target="https://www.tensorflow.org/" TargetMode="External"/><Relationship Id="rId4" Type="http://schemas.openxmlformats.org/officeDocument/2006/relationships/hyperlink" Target="https://thingspeak.com/doc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pPr>
              <a:defRPr/>
            </a:pPr>
            <a:r>
              <a:rPr lang="en-US" dirty="0"/>
              <a:t>11 April 2026</a:t>
            </a:r>
          </a:p>
        </p:txBody>
      </p:sp>
      <p:sp>
        <p:nvSpPr>
          <p:cNvPr id="5" name="Footer Placeholder 4"/>
          <p:cNvSpPr>
            <a:spLocks noGrp="1"/>
          </p:cNvSpPr>
          <p:nvPr>
            <p:ph type="ftr" sz="quarter" idx="11"/>
          </p:nvPr>
        </p:nvSpPr>
        <p:spPr>
          <a:xfrm>
            <a:off x="1799358" y="1393680"/>
            <a:ext cx="6001617" cy="1059873"/>
          </a:xfrm>
        </p:spPr>
        <p:txBody>
          <a:bodyPr/>
          <a:lstStyle/>
          <a:p>
            <a:pPr algn="ctr">
              <a:defRPr/>
            </a:pPr>
            <a:endParaRPr lang="en-US" sz="1400" b="1" dirty="0">
              <a:solidFill>
                <a:srgbClr val="051D40"/>
              </a:solidFill>
              <a:latin typeface="Times New Roman" pitchFamily="18" charset="0"/>
              <a:ea typeface="Open Sans Extra Bold"/>
              <a:cs typeface="Times New Roman" pitchFamily="18" charset="0"/>
              <a:sym typeface="Open Sans Extra Bold"/>
            </a:endParaRP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SCHOOL OF COMPUTING</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DEPARTMENT OF COMPUTER SCIENCE &amp; ENGINEERING</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10214CS602- MINOR PROJECT – II</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ACADEMIC YEAR : 2025-2026(WINTER SEMESTER)</a:t>
            </a:r>
          </a:p>
          <a:p>
            <a:pPr>
              <a:defRPr/>
            </a:pPr>
            <a:r>
              <a:rPr lang="en-US" sz="1400" b="1" dirty="0">
                <a:solidFill>
                  <a:srgbClr val="051D40"/>
                </a:solidFill>
                <a:latin typeface="Open Sans Extra Bold"/>
                <a:ea typeface="Open Sans Extra Bold"/>
                <a:cs typeface="Open Sans Extra Bold"/>
                <a:sym typeface="Open Sans Extra Bold"/>
              </a:rPr>
              <a:t>REVIEW - 2</a:t>
            </a:r>
          </a:p>
          <a:p>
            <a:pPr algn="ctr">
              <a:defRPr/>
            </a:pPr>
            <a:endParaRPr lang="en-US" sz="1400" b="1" dirty="0">
              <a:solidFill>
                <a:srgbClr val="051D40"/>
              </a:solidFill>
              <a:latin typeface="Times New Roman" pitchFamily="18" charset="0"/>
              <a:ea typeface="Open Sans Extra Bold"/>
              <a:cs typeface="Times New Roman" pitchFamily="18" charset="0"/>
              <a:sym typeface="Open Sans Extra Bold"/>
            </a:endParaRPr>
          </a:p>
          <a:p>
            <a:pPr algn="ctr">
              <a:defRPr/>
            </a:pPr>
            <a:endParaRPr lang="en-US" sz="1400" b="1" dirty="0">
              <a:solidFill>
                <a:srgbClr val="051D40"/>
              </a:solidFill>
              <a:latin typeface="Open Sans Extra Bold"/>
              <a:ea typeface="Open Sans Extra Bold"/>
              <a:cs typeface="Open Sans Extra Bold"/>
              <a:sym typeface="Open Sans Extra Bold"/>
            </a:endParaRP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 </a:t>
            </a:r>
            <a:endParaRPr lang="en-US" b="1"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normAutofit lnSpcReduction="10000"/>
          </a:bodyPr>
          <a:lstStyle/>
          <a:p>
            <a:fld id="{C8B3AA75-1EA1-4A20-9182-A423EE2FFA8F}" type="slidenum">
              <a:rPr lang="en-US" altLang="en-US"/>
              <a:pPr/>
              <a:t>1</a:t>
            </a:fld>
            <a:endParaRPr lang="en-US" altLang="en-US"/>
          </a:p>
        </p:txBody>
      </p:sp>
      <p:sp>
        <p:nvSpPr>
          <p:cNvPr id="8197" name="TextBox 6"/>
          <p:cNvSpPr txBox="1">
            <a:spLocks noChangeArrowheads="1"/>
          </p:cNvSpPr>
          <p:nvPr/>
        </p:nvSpPr>
        <p:spPr bwMode="auto">
          <a:xfrm flipH="1">
            <a:off x="180110" y="3416878"/>
            <a:ext cx="3138054" cy="830997"/>
          </a:xfrm>
          <a:prstGeom prst="rect">
            <a:avLst/>
          </a:prstGeom>
          <a:noFill/>
          <a:ln w="9525">
            <a:noFill/>
            <a:miter lim="800000"/>
            <a:headEnd/>
            <a:tailEnd/>
          </a:ln>
        </p:spPr>
        <p:txBody>
          <a:bodyPr wrap="square">
            <a:spAutoFit/>
          </a:bodyPr>
          <a:lstStyle/>
          <a:p>
            <a:pPr algn="ctr"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PRESENTED BY</a:t>
            </a:r>
          </a:p>
          <a:p>
            <a:pPr algn="just"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 1. </a:t>
            </a:r>
            <a:r>
              <a:rPr lang="en-US" sz="1200" b="1" dirty="0" err="1">
                <a:solidFill>
                  <a:srgbClr val="051D40"/>
                </a:solidFill>
                <a:latin typeface="Open Sans Extra Bold"/>
                <a:ea typeface="Open Sans Extra Bold"/>
                <a:cs typeface="Open Sans Extra Bold"/>
                <a:sym typeface="Open Sans Extra Bold"/>
              </a:rPr>
              <a:t>R.Charan</a:t>
            </a:r>
            <a:r>
              <a:rPr lang="en-US" sz="1200" b="1" dirty="0">
                <a:solidFill>
                  <a:srgbClr val="051D40"/>
                </a:solidFill>
                <a:latin typeface="Open Sans Extra Bold"/>
                <a:ea typeface="Open Sans Extra Bold"/>
                <a:cs typeface="Open Sans Extra Bold"/>
                <a:sym typeface="Open Sans Extra Bold"/>
              </a:rPr>
              <a:t> Nag(25636)(23UECS1202)</a:t>
            </a:r>
          </a:p>
          <a:p>
            <a:pPr algn="just"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 2. H.SATYA SAI (25470)(23UECS0738)</a:t>
            </a:r>
          </a:p>
          <a:p>
            <a:pPr algn="just"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 3. D.VIJAY ( 25436)(23UECS1048)</a:t>
            </a:r>
          </a:p>
        </p:txBody>
      </p:sp>
      <p:sp>
        <p:nvSpPr>
          <p:cNvPr id="8" name="Freeform 11"/>
          <p:cNvSpPr/>
          <p:nvPr/>
        </p:nvSpPr>
        <p:spPr>
          <a:xfrm>
            <a:off x="48491" y="48491"/>
            <a:ext cx="2867891" cy="1008784"/>
          </a:xfrm>
          <a:custGeom>
            <a:avLst/>
            <a:gdLst/>
            <a:ahLst/>
            <a:cxnLst/>
            <a:rect l="l" t="t" r="r" b="b"/>
            <a:pathLst>
              <a:path w="3953781" h="1147922">
                <a:moveTo>
                  <a:pt x="0" y="0"/>
                </a:moveTo>
                <a:lnTo>
                  <a:pt x="3953780" y="0"/>
                </a:lnTo>
                <a:lnTo>
                  <a:pt x="3953780" y="1147922"/>
                </a:lnTo>
                <a:lnTo>
                  <a:pt x="0" y="1147922"/>
                </a:lnTo>
                <a:lnTo>
                  <a:pt x="0" y="0"/>
                </a:lnTo>
                <a:close/>
              </a:path>
            </a:pathLst>
          </a:custGeom>
          <a:blipFill>
            <a:blip r:embed="rId2"/>
            <a:stretch>
              <a:fillRect l="-1087" r="-1087"/>
            </a:stretch>
          </a:blipFill>
        </p:spPr>
        <p:txBody>
          <a:bodyPr/>
          <a:lstStyle/>
          <a:p>
            <a:pPr eaLnBrk="1" fontAlgn="auto" hangingPunct="1">
              <a:spcBef>
                <a:spcPts val="0"/>
              </a:spcBef>
              <a:spcAft>
                <a:spcPts val="0"/>
              </a:spcAft>
              <a:defRPr/>
            </a:pPr>
            <a:endParaRPr lang="en-IN" dirty="0">
              <a:latin typeface="+mn-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25" y="0"/>
            <a:ext cx="128587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933516" y="3112204"/>
            <a:ext cx="3567546" cy="1510798"/>
          </a:xfrm>
          <a:prstGeom prst="rect">
            <a:avLst/>
          </a:prstGeom>
        </p:spPr>
        <p:txBody>
          <a:bodyPr wrap="square">
            <a:spAutoFit/>
          </a:bodyPr>
          <a:lstStyle/>
          <a:p>
            <a:pPr algn="ctr" eaLnBrk="1" fontAlgn="auto" hangingPunct="1">
              <a:lnSpc>
                <a:spcPts val="3855"/>
              </a:lnSpc>
              <a:spcBef>
                <a:spcPts val="0"/>
              </a:spcBef>
              <a:spcAft>
                <a:spcPts val="0"/>
              </a:spcAft>
              <a:defRPr/>
            </a:pPr>
            <a:r>
              <a:rPr lang="en-US" sz="1400" b="1" spc="-55" dirty="0">
                <a:solidFill>
                  <a:srgbClr val="051D40"/>
                </a:solidFill>
                <a:latin typeface="Poppins Bold"/>
                <a:ea typeface="Poppins Bold"/>
                <a:cs typeface="Poppins Bold"/>
                <a:sym typeface="Poppins Bold"/>
              </a:rPr>
              <a:t>  SUPERVISED BY          </a:t>
            </a:r>
            <a:r>
              <a:rPr lang="en-US" sz="1400" b="1" spc="-55" dirty="0" err="1">
                <a:solidFill>
                  <a:srgbClr val="051D40"/>
                </a:solidFill>
                <a:latin typeface="Poppins Bold"/>
                <a:ea typeface="Poppins Bold"/>
                <a:cs typeface="Poppins Bold"/>
                <a:sym typeface="Poppins Bold"/>
              </a:rPr>
              <a:t>MRS.C.SELVARATHI,Assistant</a:t>
            </a:r>
            <a:r>
              <a:rPr lang="en-US" sz="1400" b="1" spc="-55">
                <a:solidFill>
                  <a:srgbClr val="051D40"/>
                </a:solidFill>
                <a:latin typeface="Poppins Bold"/>
                <a:ea typeface="Poppins Bold"/>
                <a:cs typeface="Poppins Bold"/>
                <a:sym typeface="Poppins Bold"/>
              </a:rPr>
              <a:t>  Professor</a:t>
            </a:r>
            <a:endParaRPr lang="en-US" sz="1400" b="1" spc="-55" dirty="0">
              <a:solidFill>
                <a:srgbClr val="051D40"/>
              </a:solidFill>
              <a:latin typeface="Poppins Bold"/>
              <a:ea typeface="Poppins Bold"/>
              <a:cs typeface="Poppins Bold"/>
              <a:sym typeface="Poppins Bold"/>
            </a:endParaRPr>
          </a:p>
          <a:p>
            <a:pPr eaLnBrk="1" fontAlgn="auto" hangingPunct="1">
              <a:lnSpc>
                <a:spcPts val="3855"/>
              </a:lnSpc>
              <a:spcBef>
                <a:spcPts val="0"/>
              </a:spcBef>
              <a:spcAft>
                <a:spcPts val="0"/>
              </a:spcAft>
              <a:defRPr/>
            </a:pPr>
            <a:r>
              <a:rPr lang="en-US" sz="1200" b="1" spc="-55" dirty="0">
                <a:solidFill>
                  <a:srgbClr val="051D40"/>
                </a:solidFill>
                <a:latin typeface="Poppins Bold"/>
                <a:ea typeface="Poppins Bold"/>
                <a:cs typeface="Poppins Bold"/>
                <a:sym typeface="Poppins 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114300"/>
            <a:ext cx="8991600" cy="938297"/>
          </a:xfrm>
        </p:spPr>
        <p:txBody>
          <a:bodyPr>
            <a:noAutofit/>
          </a:bodyPr>
          <a:lstStyle/>
          <a:p>
            <a:r>
              <a:rPr lang="en-US" sz="2400" dirty="0">
                <a:solidFill>
                  <a:srgbClr val="FFC000"/>
                </a:solidFill>
                <a:latin typeface="Times New Roman" pitchFamily="18" charset="0"/>
                <a:cs typeface="Times New Roman" pitchFamily="18" charset="0"/>
              </a:rPr>
              <a:t>SMART HOME ANOMALY DETECTION USING  IOT &amp; MACHINE LEARNING</a:t>
            </a:r>
            <a:endParaRPr lang="en-US" sz="2400" dirty="0">
              <a:solidFill>
                <a:schemeClr val="accent1">
                  <a:satMod val="150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pPr>
              <a:defRPr/>
            </a:pPr>
            <a:fld id="{5E4C9F69-8D19-4DDA-90DF-98A742B56BDA}" type="datetime3">
              <a:rPr lang="en-US" smtClean="0"/>
              <a:t>11 April 2026</a:t>
            </a:fld>
            <a:endParaRPr lang="en-US" dirty="0"/>
          </a:p>
        </p:txBody>
      </p:sp>
      <p:sp>
        <p:nvSpPr>
          <p:cNvPr id="5" name="Footer Placeholder 4"/>
          <p:cNvSpPr>
            <a:spLocks noGrp="1"/>
          </p:cNvSpPr>
          <p:nvPr>
            <p:ph type="ftr" sz="quarter" idx="11"/>
          </p:nvPr>
        </p:nvSpPr>
        <p:spPr>
          <a:xfrm>
            <a:off x="2640013" y="4857750"/>
            <a:ext cx="5935951" cy="206375"/>
          </a:xfrm>
        </p:spPr>
        <p:txBody>
          <a:bodyPr/>
          <a:lstStyle/>
          <a:p>
            <a:pPr>
              <a:defRPr/>
            </a:pPr>
            <a:r>
              <a:rPr lang="en-US" dirty="0"/>
              <a:t>BATCH NO:          DEPARTMENT OF COMPUTER SCIENCE &amp; ENGINEERING </a:t>
            </a:r>
          </a:p>
        </p:txBody>
      </p:sp>
      <p:sp>
        <p:nvSpPr>
          <p:cNvPr id="9219" name="Slide Number Placeholder 6"/>
          <p:cNvSpPr>
            <a:spLocks noGrp="1" noChangeArrowheads="1"/>
          </p:cNvSpPr>
          <p:nvPr>
            <p:ph type="sldNum" sz="quarter" idx="12"/>
          </p:nvPr>
        </p:nvSpPr>
        <p:spPr bwMode="auto">
          <a:noFill/>
          <a:ln>
            <a:miter lim="800000"/>
            <a:headEnd/>
            <a:tailEnd/>
          </a:ln>
        </p:spPr>
        <p:txBody>
          <a:bodyPr/>
          <a:lstStyle/>
          <a:p>
            <a:pPr>
              <a:lnSpc>
                <a:spcPct val="90000"/>
              </a:lnSpc>
            </a:pPr>
            <a:fld id="{089DB55B-AF57-424A-AA3C-DDAA088D3F76}" type="slidenum">
              <a:rPr lang="en-US" altLang="en-US" sz="1100"/>
              <a:pPr>
                <a:lnSpc>
                  <a:spcPct val="90000"/>
                </a:lnSpc>
              </a:pPr>
              <a:t>2</a:t>
            </a:fld>
            <a:endParaRPr lang="en-US" altLang="en-US" sz="1100"/>
          </a:p>
        </p:txBody>
      </p:sp>
      <p:sp>
        <p:nvSpPr>
          <p:cNvPr id="2" name="Rectangle 1"/>
          <p:cNvSpPr/>
          <p:nvPr/>
        </p:nvSpPr>
        <p:spPr>
          <a:xfrm>
            <a:off x="476278" y="1118094"/>
            <a:ext cx="3862981" cy="3970318"/>
          </a:xfrm>
          <a:prstGeom prst="rect">
            <a:avLst/>
          </a:prstGeom>
        </p:spPr>
        <p:txBody>
          <a:bodyPr wrap="none">
            <a:spAutoFit/>
          </a:bodyPr>
          <a:lstStyle/>
          <a:p>
            <a:r>
              <a:rPr lang="en-US" b="1" dirty="0">
                <a:solidFill>
                  <a:srgbClr val="000000"/>
                </a:solidFill>
                <a:latin typeface="Open Sans Extra Bold"/>
                <a:ea typeface="Open Sans Extra Bold"/>
                <a:cs typeface="Open Sans Extra Bold"/>
                <a:sym typeface="Open Sans Extra Bold"/>
              </a:rPr>
              <a:t>AGENDA</a:t>
            </a:r>
          </a:p>
          <a:p>
            <a:endParaRPr lang="en-US" b="1" dirty="0">
              <a:solidFill>
                <a:srgbClr val="000000"/>
              </a:solidFill>
              <a:latin typeface="Open Sans Extra Bold"/>
              <a:ea typeface="Open Sans Extra Bold"/>
              <a:cs typeface="Open Sans Extra Bold"/>
              <a:sym typeface="Open Sans Extra Bold"/>
            </a:endParaRP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Introduction</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Literature Survey </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Problem Statement	</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Proposed Methodology</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Proposed System Architecture</a:t>
            </a:r>
          </a:p>
          <a:p>
            <a:pPr marL="285750" indent="-285750">
              <a:buFont typeface="Arial" pitchFamily="34" charset="0"/>
              <a:buChar char="•"/>
            </a:pPr>
            <a:r>
              <a:rPr lang="en-IN" b="1" dirty="0">
                <a:latin typeface="Arial" panose="020B0604020202020204" pitchFamily="34" charset="0"/>
                <a:cs typeface="Arial" panose="020B0604020202020204" pitchFamily="34" charset="0"/>
              </a:rPr>
              <a:t>Implementation Details</a:t>
            </a:r>
          </a:p>
          <a:p>
            <a:pPr marL="285750" indent="-285750">
              <a:buFont typeface="Arial" pitchFamily="34" charset="0"/>
              <a:buChar char="•"/>
            </a:pPr>
            <a:r>
              <a:rPr lang="en-US" altLang="en-US" b="1" dirty="0">
                <a:solidFill>
                  <a:srgbClr val="051D40"/>
                </a:solidFill>
                <a:latin typeface="Arial" pitchFamily="34" charset="0"/>
                <a:ea typeface="Open Sans Extra Bold" charset="0"/>
                <a:cs typeface="Arial" pitchFamily="34" charset="0"/>
                <a:sym typeface="Open Sans Extra Bold" charset="0"/>
              </a:rPr>
              <a:t>Testing &amp; Validation</a:t>
            </a:r>
          </a:p>
          <a:p>
            <a:pPr marL="285750" indent="-285750">
              <a:buFont typeface="Arial" pitchFamily="34" charset="0"/>
              <a:buChar char="•"/>
            </a:pPr>
            <a:r>
              <a:rPr lang="en-IN" b="1" dirty="0">
                <a:latin typeface="Arial" panose="020B0604020202020204" pitchFamily="34" charset="0"/>
                <a:cs typeface="Arial" panose="020B0604020202020204" pitchFamily="34" charset="0"/>
              </a:rPr>
              <a:t>Preliminary Results &amp; Analysis</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Conclusion and Future Work</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References</a:t>
            </a:r>
          </a:p>
          <a:p>
            <a:endParaRPr lang="en-US" b="1" dirty="0">
              <a:solidFill>
                <a:srgbClr val="000000"/>
              </a:solidFill>
              <a:latin typeface="Open Sans Extra Bold"/>
              <a:ea typeface="Open Sans Extra Bold"/>
              <a:cs typeface="Open Sans Extra Bold"/>
              <a:sym typeface="Open Sans Extra Bold"/>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0"/>
            <a:ext cx="8229600" cy="877229"/>
          </a:xfrm>
        </p:spPr>
        <p:txBody>
          <a:bodyPr>
            <a:normAutofit/>
          </a:bodyPr>
          <a:lstStyle/>
          <a:p>
            <a:pPr algn="ctr">
              <a:defRPr/>
            </a:pPr>
            <a:r>
              <a:rPr lang="en-US" altLang="en-US" dirty="0">
                <a:solidFill>
                  <a:srgbClr val="FFC000"/>
                </a:solidFill>
              </a:rPr>
              <a:t>Introduction</a:t>
            </a:r>
          </a:p>
        </p:txBody>
      </p:sp>
      <p:sp>
        <p:nvSpPr>
          <p:cNvPr id="13315" name="Rectangle 3"/>
          <p:cNvSpPr>
            <a:spLocks noGrp="1"/>
          </p:cNvSpPr>
          <p:nvPr>
            <p:ph idx="1"/>
          </p:nvPr>
        </p:nvSpPr>
        <p:spPr>
          <a:xfrm>
            <a:off x="457200" y="1123950"/>
            <a:ext cx="8229600" cy="3468687"/>
          </a:xfrm>
        </p:spPr>
        <p:txBody>
          <a:bodyPr/>
          <a:lstStyle/>
          <a:p>
            <a:pPr>
              <a:buNone/>
            </a:pPr>
            <a:endParaRPr lang="en-US" sz="2400" dirty="0"/>
          </a:p>
          <a:p>
            <a:pPr marL="119062" indent="0">
              <a:buNone/>
            </a:pPr>
            <a:r>
              <a:rPr lang="en-US" sz="2400" dirty="0"/>
              <a:t> </a:t>
            </a:r>
          </a:p>
          <a:p>
            <a:endParaRPr lang="en-US" altLang="en-US" sz="2400" dirty="0">
              <a:solidFill>
                <a:srgbClr val="0000FF"/>
              </a:solidFill>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62045F47-43EB-4CFA-85B8-57EC616EA918}" type="datetime3">
              <a:rPr lang="en-US" smtClean="0"/>
              <a:t>11 April 2026</a:t>
            </a:fld>
            <a:endParaRPr lang="en-US" dirty="0"/>
          </a:p>
        </p:txBody>
      </p:sp>
      <p:sp>
        <p:nvSpPr>
          <p:cNvPr id="4" name="Footer Placeholder 3"/>
          <p:cNvSpPr>
            <a:spLocks noGrp="1"/>
          </p:cNvSpPr>
          <p:nvPr>
            <p:ph type="ftr" sz="quarter" idx="11"/>
          </p:nvPr>
        </p:nvSpPr>
        <p:spPr>
          <a:xfrm>
            <a:off x="2640013" y="4857750"/>
            <a:ext cx="5984442" cy="206375"/>
          </a:xfrm>
        </p:spPr>
        <p:txBody>
          <a:bodyPr/>
          <a:lstStyle/>
          <a:p>
            <a:pPr>
              <a:defRPr/>
            </a:pPr>
            <a:r>
              <a:rPr lang="en-US" dirty="0"/>
              <a:t>BATCH NO:          DEPARTMENT OF COMPUTER SCIENCE &amp; ENGINEERING </a:t>
            </a:r>
          </a:p>
        </p:txBody>
      </p:sp>
      <p:sp>
        <p:nvSpPr>
          <p:cNvPr id="13317"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16E5D142-761C-4AC0-BD20-EECEB6996668}" type="slidenum">
              <a:rPr lang="en-US" altLang="en-US"/>
              <a:pPr/>
              <a:t>3</a:t>
            </a:fld>
            <a:endParaRPr lang="en-US" altLang="en-US"/>
          </a:p>
        </p:txBody>
      </p:sp>
      <p:sp>
        <p:nvSpPr>
          <p:cNvPr id="6" name="TextBox 5">
            <a:extLst>
              <a:ext uri="{FF2B5EF4-FFF2-40B4-BE49-F238E27FC236}">
                <a16:creationId xmlns:a16="http://schemas.microsoft.com/office/drawing/2014/main" id="{B557D7D0-8E38-AEDF-10C9-E9D5AED6CBBF}"/>
              </a:ext>
            </a:extLst>
          </p:cNvPr>
          <p:cNvSpPr txBox="1"/>
          <p:nvPr/>
        </p:nvSpPr>
        <p:spPr>
          <a:xfrm>
            <a:off x="260196" y="877229"/>
            <a:ext cx="8697950" cy="3416320"/>
          </a:xfrm>
          <a:prstGeom prst="rect">
            <a:avLst/>
          </a:prstGeom>
          <a:noFill/>
        </p:spPr>
        <p:txBody>
          <a:bodyPr wrap="square">
            <a:spAutoFit/>
          </a:bodyPr>
          <a:lstStyle/>
          <a:p>
            <a:pPr algn="just"/>
            <a:r>
              <a:rPr lang="en-US" b="1" dirty="0">
                <a:solidFill>
                  <a:srgbClr val="000000"/>
                </a:solidFill>
                <a:latin typeface="Open Sans Extra Bold"/>
                <a:ea typeface="Open Sans Extra Bold"/>
                <a:cs typeface="Open Sans Extra Bold"/>
                <a:sym typeface="Open Sans Extra Bold"/>
              </a:rPr>
              <a:t>Problem Statement:</a:t>
            </a:r>
          </a:p>
          <a:p>
            <a:pPr algn="just"/>
            <a:r>
              <a:rPr lang="en-US" dirty="0">
                <a:latin typeface="Times New Roman" panose="02020603050405020304" pitchFamily="18" charset="0"/>
                <a:cs typeface="Times New Roman" panose="02020603050405020304" pitchFamily="18" charset="0"/>
              </a:rPr>
              <a:t>Smart home systems are becoming increasingly popular in modern living environments. However, these systems often lack the ability to detect abnormal situations such as gas leaks, fire hazards, or unauthorized access in real-time.</a:t>
            </a:r>
            <a:endParaRPr lang="en-US" sz="1800" b="1" dirty="0">
              <a:solidFill>
                <a:srgbClr val="000000"/>
              </a:solidFill>
              <a:latin typeface="Times New Roman" panose="02020603050405020304" pitchFamily="18" charset="0"/>
              <a:ea typeface="Open Sans Extra Bold"/>
              <a:cs typeface="Times New Roman" panose="02020603050405020304" pitchFamily="18" charset="0"/>
              <a:sym typeface="Open Sans Extra Bold"/>
            </a:endParaRPr>
          </a:p>
          <a:p>
            <a:pPr algn="just"/>
            <a:r>
              <a:rPr lang="en-US" b="1" dirty="0">
                <a:solidFill>
                  <a:srgbClr val="000000"/>
                </a:solidFill>
                <a:latin typeface="Open Sans Extra Bold"/>
                <a:ea typeface="Open Sans Extra Bold"/>
                <a:cs typeface="Open Sans Extra Bold"/>
                <a:sym typeface="Open Sans Extra Bold"/>
              </a:rPr>
              <a:t>Project Goal:</a:t>
            </a:r>
          </a:p>
          <a:p>
            <a:pPr algn="just"/>
            <a:r>
              <a:rPr lang="en-US" dirty="0">
                <a:latin typeface="Times New Roman" panose="02020603050405020304" pitchFamily="18" charset="0"/>
                <a:cs typeface="Times New Roman" panose="02020603050405020304" pitchFamily="18" charset="0"/>
              </a:rPr>
              <a:t>To develop a smart home anomaly detection system that:</a:t>
            </a:r>
            <a:endParaRPr lang="en-US" b="1" dirty="0">
              <a:solidFill>
                <a:srgbClr val="000000"/>
              </a:solidFill>
              <a:latin typeface="Times New Roman" panose="02020603050405020304" pitchFamily="18" charset="0"/>
              <a:ea typeface="Open Sans Extra Bold"/>
              <a:cs typeface="Times New Roman" panose="02020603050405020304" pitchFamily="18" charset="0"/>
              <a:sym typeface="Open Sans Extra Bold"/>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Monitors home environment continuously</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abnormal conditions.</a:t>
            </a: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Sends real-time alerts to users</a:t>
            </a:r>
            <a:endParaRPr lang="en-US" sz="1800" b="1" dirty="0">
              <a:solidFill>
                <a:srgbClr val="000000"/>
              </a:solidFill>
              <a:latin typeface="Times New Roman" panose="02020603050405020304" pitchFamily="18" charset="0"/>
              <a:ea typeface="Open Sans Extra Bold"/>
              <a:cs typeface="Times New Roman" panose="02020603050405020304" pitchFamily="18" charset="0"/>
              <a:sym typeface="Open Sans Extra Bold"/>
            </a:endParaRPr>
          </a:p>
          <a:p>
            <a:pPr algn="just"/>
            <a:r>
              <a:rPr lang="en-US" b="1" dirty="0">
                <a:solidFill>
                  <a:srgbClr val="000000"/>
                </a:solidFill>
                <a:latin typeface="Open Sans Extra Bold"/>
                <a:ea typeface="Open Sans Extra Bold"/>
                <a:cs typeface="Open Sans Extra Bold"/>
                <a:sym typeface="Open Sans Extra Bold"/>
              </a:rPr>
              <a:t>Brief Overview:</a:t>
            </a:r>
          </a:p>
          <a:p>
            <a:r>
              <a:rPr lang="en-US" dirty="0">
                <a:latin typeface="Times New Roman" panose="02020603050405020304" pitchFamily="18" charset="0"/>
                <a:cs typeface="Times New Roman" panose="02020603050405020304" pitchFamily="18" charset="0"/>
              </a:rPr>
              <a:t>A system using sensors + IoT + Machine Learning monitors home conditions and provides alerts through mobile or dashboard</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02392"/>
            <a:ext cx="8229600" cy="960837"/>
          </a:xfrm>
        </p:spPr>
        <p:txBody>
          <a:bodyPr>
            <a:normAutofit/>
          </a:bodyPr>
          <a:lstStyle/>
          <a:p>
            <a:pPr algn="ctr">
              <a:defRPr/>
            </a:pPr>
            <a:r>
              <a:rPr lang="en-US" altLang="en-US" dirty="0">
                <a:solidFill>
                  <a:srgbClr val="FFC000"/>
                </a:solidFill>
              </a:rPr>
              <a:t>Literature Survey </a:t>
            </a:r>
          </a:p>
        </p:txBody>
      </p:sp>
      <p:sp>
        <p:nvSpPr>
          <p:cNvPr id="13315" name="Rectangle 3"/>
          <p:cNvSpPr>
            <a:spLocks noGrp="1"/>
          </p:cNvSpPr>
          <p:nvPr>
            <p:ph idx="1"/>
          </p:nvPr>
        </p:nvSpPr>
        <p:spPr>
          <a:xfrm>
            <a:off x="457200" y="1123950"/>
            <a:ext cx="8229600" cy="3468687"/>
          </a:xfrm>
        </p:spPr>
        <p:txBody>
          <a:bodyPr/>
          <a:lstStyle/>
          <a:p>
            <a:pPr>
              <a:buNone/>
            </a:pPr>
            <a:endParaRPr lang="en-US" sz="2400" dirty="0"/>
          </a:p>
          <a:p>
            <a:endParaRPr lang="en-US" sz="2400" b="1" dirty="0">
              <a:solidFill>
                <a:srgbClr val="0000FF"/>
              </a:solidFill>
              <a:latin typeface="Open Sans Extra Bold"/>
              <a:ea typeface="Open Sans Extra Bold"/>
              <a:cs typeface="Open Sans Extra Bold"/>
              <a:sym typeface="Open Sans Extra Bold"/>
            </a:endParaRPr>
          </a:p>
        </p:txBody>
      </p:sp>
      <p:sp>
        <p:nvSpPr>
          <p:cNvPr id="2" name="Date Placeholder 1"/>
          <p:cNvSpPr>
            <a:spLocks noGrp="1"/>
          </p:cNvSpPr>
          <p:nvPr>
            <p:ph type="dt" sz="half" idx="10"/>
          </p:nvPr>
        </p:nvSpPr>
        <p:spPr/>
        <p:txBody>
          <a:bodyPr/>
          <a:lstStyle/>
          <a:p>
            <a:pPr>
              <a:defRPr/>
            </a:pPr>
            <a:fld id="{7B357140-C9D4-4989-A73C-42BDB9E92689}" type="datetime3">
              <a:rPr lang="en-US" smtClean="0"/>
              <a:t>11 April 2026</a:t>
            </a:fld>
            <a:endParaRPr lang="en-US" dirty="0"/>
          </a:p>
        </p:txBody>
      </p:sp>
      <p:sp>
        <p:nvSpPr>
          <p:cNvPr id="4" name="Footer Placeholder 3"/>
          <p:cNvSpPr>
            <a:spLocks noGrp="1"/>
          </p:cNvSpPr>
          <p:nvPr>
            <p:ph type="ftr" sz="quarter" idx="11"/>
          </p:nvPr>
        </p:nvSpPr>
        <p:spPr>
          <a:xfrm>
            <a:off x="2640013" y="4857750"/>
            <a:ext cx="6039860" cy="206375"/>
          </a:xfrm>
        </p:spPr>
        <p:txBody>
          <a:bodyPr/>
          <a:lstStyle/>
          <a:p>
            <a:pPr>
              <a:defRPr/>
            </a:pPr>
            <a:r>
              <a:rPr lang="en-US" dirty="0"/>
              <a:t>BATCH NO:          DEPARTMENT OF COMPUTER SCIENCE &amp; ENGINEERING </a:t>
            </a:r>
          </a:p>
        </p:txBody>
      </p:sp>
      <p:sp>
        <p:nvSpPr>
          <p:cNvPr id="13317"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16E5D142-761C-4AC0-BD20-EECEB6996668}" type="slidenum">
              <a:rPr lang="en-US" altLang="en-US"/>
              <a:pPr/>
              <a:t>4</a:t>
            </a:fld>
            <a:endParaRPr lang="en-US" altLang="en-US"/>
          </a:p>
        </p:txBody>
      </p:sp>
      <p:sp>
        <p:nvSpPr>
          <p:cNvPr id="5" name="Rectangle 4"/>
          <p:cNvSpPr/>
          <p:nvPr/>
        </p:nvSpPr>
        <p:spPr>
          <a:xfrm>
            <a:off x="450274" y="858838"/>
            <a:ext cx="8229600" cy="840295"/>
          </a:xfrm>
          <a:prstGeom prst="rect">
            <a:avLst/>
          </a:prstGeom>
        </p:spPr>
        <p:txBody>
          <a:bodyPr wrap="square">
            <a:spAutoFit/>
          </a:bodyPr>
          <a:lstStyle/>
          <a:p>
            <a:pPr eaLnBrk="1" fontAlgn="auto" hangingPunct="1">
              <a:lnSpc>
                <a:spcPts val="3079"/>
              </a:lnSpc>
              <a:spcAft>
                <a:spcPts val="0"/>
              </a:spcAft>
              <a:defRPr/>
            </a:pPr>
            <a:endParaRPr lang="en-US" sz="2400" b="1" dirty="0">
              <a:solidFill>
                <a:srgbClr val="000000"/>
              </a:solidFill>
              <a:latin typeface="Open Sans Extra Bold"/>
              <a:ea typeface="Open Sans Extra Bold"/>
              <a:cs typeface="Open Sans Extra Bold"/>
              <a:sym typeface="Open Sans Extra Bold"/>
            </a:endParaRPr>
          </a:p>
          <a:p>
            <a:pPr eaLnBrk="1" fontAlgn="auto" hangingPunct="1">
              <a:lnSpc>
                <a:spcPts val="3079"/>
              </a:lnSpc>
              <a:spcAft>
                <a:spcPts val="0"/>
              </a:spcAft>
              <a:defRPr/>
            </a:pPr>
            <a:endParaRPr lang="en-US" b="1" dirty="0">
              <a:solidFill>
                <a:srgbClr val="000000"/>
              </a:solidFill>
              <a:latin typeface="Open Sans Extra Bold"/>
              <a:ea typeface="Open Sans Extra Bold"/>
              <a:cs typeface="Open Sans Extra Bold"/>
              <a:sym typeface="Open Sans Extra Bold"/>
            </a:endParaRPr>
          </a:p>
        </p:txBody>
      </p:sp>
      <p:sp>
        <p:nvSpPr>
          <p:cNvPr id="8" name="AutoShape 2" descr="Download the table image">
            <a:extLst>
              <a:ext uri="{FF2B5EF4-FFF2-40B4-BE49-F238E27FC236}">
                <a16:creationId xmlns:a16="http://schemas.microsoft.com/office/drawing/2014/main" id="{D2742558-E4D2-A3BA-FE0A-A1E712D51C6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Download the table image">
            <a:extLst>
              <a:ext uri="{FF2B5EF4-FFF2-40B4-BE49-F238E27FC236}">
                <a16:creationId xmlns:a16="http://schemas.microsoft.com/office/drawing/2014/main" id="{721486AC-03FC-8F1A-9609-E49DB344D4C6}"/>
              </a:ext>
            </a:extLst>
          </p:cNvPr>
          <p:cNvSpPr>
            <a:spLocks noChangeAspect="1" noChangeArrowheads="1"/>
          </p:cNvSpPr>
          <p:nvPr/>
        </p:nvSpPr>
        <p:spPr bwMode="auto">
          <a:xfrm>
            <a:off x="4571999" y="1516101"/>
            <a:ext cx="1360449" cy="136044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365975E6-BEFA-9CF9-190E-BAE21B92560D}"/>
              </a:ext>
            </a:extLst>
          </p:cNvPr>
          <p:cNvPicPr>
            <a:picLocks noChangeAspect="1"/>
          </p:cNvPicPr>
          <p:nvPr/>
        </p:nvPicPr>
        <p:blipFill>
          <a:blip r:embed="rId3"/>
          <a:stretch>
            <a:fillRect/>
          </a:stretch>
        </p:blipFill>
        <p:spPr>
          <a:xfrm>
            <a:off x="588819" y="809587"/>
            <a:ext cx="7952509" cy="39576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Problem Statement</a:t>
            </a:r>
          </a:p>
        </p:txBody>
      </p:sp>
      <p:sp>
        <p:nvSpPr>
          <p:cNvPr id="17411" name="Rectangle 3"/>
          <p:cNvSpPr>
            <a:spLocks noGrp="1"/>
          </p:cNvSpPr>
          <p:nvPr>
            <p:ph idx="1"/>
          </p:nvPr>
        </p:nvSpPr>
        <p:spPr>
          <a:xfrm>
            <a:off x="696176" y="1793525"/>
            <a:ext cx="7990624" cy="2835625"/>
          </a:xfrm>
        </p:spPr>
        <p:txBody>
          <a:bodyPr>
            <a:normAutofit/>
          </a:bodyPr>
          <a:lstStyle/>
          <a:p>
            <a:pPr marL="0" indent="0" algn="just">
              <a:buNone/>
            </a:pPr>
            <a:endParaRPr lang="en-US" sz="2400" dirty="0">
              <a:latin typeface="Times New Roman" pitchFamily="18" charset="0"/>
              <a:cs typeface="Times New Roman" pitchFamily="18" charset="0"/>
            </a:endParaRPr>
          </a:p>
          <a:p>
            <a:pPr marL="0" lvl="0" indent="0" eaLnBrk="0" fontAlgn="base" hangingPunct="0">
              <a:spcBef>
                <a:spcPct val="0"/>
              </a:spcBef>
              <a:spcAft>
                <a:spcPct val="0"/>
              </a:spcAft>
              <a:buFontTx/>
              <a:buChar char="•"/>
            </a:pPr>
            <a:r>
              <a:rPr lang="en-IN" sz="2400" dirty="0"/>
              <a:t>No real-time anomaly detection</a:t>
            </a:r>
            <a:endParaRPr lang="en-US" altLang="en-US" sz="2400" dirty="0">
              <a:latin typeface="Arial" panose="020B0604020202020204" pitchFamily="34" charset="0"/>
            </a:endParaRPr>
          </a:p>
          <a:p>
            <a:pPr marL="0" lvl="0" indent="0" eaLnBrk="0" fontAlgn="base" hangingPunct="0">
              <a:spcBef>
                <a:spcPct val="0"/>
              </a:spcBef>
              <a:spcAft>
                <a:spcPct val="0"/>
              </a:spcAft>
              <a:buFontTx/>
              <a:buChar char="•"/>
            </a:pPr>
            <a:r>
              <a:rPr lang="en-US" altLang="en-US" sz="2400" dirty="0">
                <a:latin typeface="Arial" panose="020B0604020202020204" pitchFamily="34" charset="0"/>
              </a:rPr>
              <a:t>Cannot understand human behavior</a:t>
            </a:r>
          </a:p>
          <a:p>
            <a:pPr marL="0" lvl="0" indent="0" eaLnBrk="0" fontAlgn="base" hangingPunct="0">
              <a:spcBef>
                <a:spcPct val="0"/>
              </a:spcBef>
              <a:spcAft>
                <a:spcPct val="0"/>
              </a:spcAft>
              <a:buFontTx/>
              <a:buChar char="•"/>
            </a:pPr>
            <a:r>
              <a:rPr lang="en-IN" sz="2400" dirty="0"/>
              <a:t>No predictive analysis</a:t>
            </a:r>
            <a:endParaRPr lang="en-US" altLang="en-US" sz="2400" dirty="0">
              <a:latin typeface="Arial" panose="020B0604020202020204" pitchFamily="34" charset="0"/>
            </a:endParaRPr>
          </a:p>
          <a:p>
            <a:pPr marL="0" lvl="0" indent="0" eaLnBrk="0" fontAlgn="base" hangingPunct="0">
              <a:spcBef>
                <a:spcPct val="0"/>
              </a:spcBef>
              <a:spcAft>
                <a:spcPct val="0"/>
              </a:spcAft>
              <a:buFontTx/>
              <a:buChar char="•"/>
            </a:pPr>
            <a:r>
              <a:rPr lang="en-US" altLang="en-US" sz="2400" dirty="0">
                <a:latin typeface="Arial" panose="020B0604020202020204" pitchFamily="34" charset="0"/>
              </a:rPr>
              <a:t>No voice assistant support</a:t>
            </a:r>
          </a:p>
          <a:p>
            <a:pPr marL="0" indent="0" eaLnBrk="0" fontAlgn="base" hangingPunct="0">
              <a:spcBef>
                <a:spcPct val="0"/>
              </a:spcBef>
              <a:spcAft>
                <a:spcPct val="0"/>
              </a:spcAft>
              <a:buFontTx/>
              <a:buChar char="•"/>
            </a:pPr>
            <a:r>
              <a:rPr lang="en-US" sz="2400" dirty="0"/>
              <a:t>Lack of safety alert mechanisms </a:t>
            </a:r>
            <a:endParaRPr lang="en-US" altLang="en-US" sz="2400" dirty="0">
              <a:latin typeface="Arial" panose="020B0604020202020204" pitchFamily="34" charset="0"/>
            </a:endParaRPr>
          </a:p>
          <a:p>
            <a:pPr marL="0" lvl="0" indent="0" eaLnBrk="0" fontAlgn="base" hangingPunct="0">
              <a:spcBef>
                <a:spcPct val="0"/>
              </a:spcBef>
              <a:spcAft>
                <a:spcPct val="0"/>
              </a:spcAft>
              <a:buFontTx/>
              <a:buChar char="•"/>
            </a:pPr>
            <a:r>
              <a:rPr lang="en-US" altLang="en-US" sz="2400" dirty="0">
                <a:latin typeface="Arial" panose="020B0604020202020204" pitchFamily="34" charset="0"/>
              </a:rPr>
              <a:t>No training support for new workers</a:t>
            </a:r>
          </a:p>
          <a:p>
            <a:pPr marL="0" indent="0">
              <a:buNone/>
            </a:pPr>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ACACBBD2-2467-438D-92B5-6E0AEE3BCC72}" type="datetime3">
              <a:rPr lang="en-US" smtClean="0"/>
              <a:t>11 April 2026</a:t>
            </a:fld>
            <a:endParaRPr lang="en-US" dirty="0"/>
          </a:p>
        </p:txBody>
      </p:sp>
      <p:sp>
        <p:nvSpPr>
          <p:cNvPr id="4" name="Footer Placeholder 3"/>
          <p:cNvSpPr>
            <a:spLocks noGrp="1"/>
          </p:cNvSpPr>
          <p:nvPr>
            <p:ph type="ftr" sz="quarter" idx="11"/>
          </p:nvPr>
        </p:nvSpPr>
        <p:spPr>
          <a:xfrm>
            <a:off x="2640013" y="4857750"/>
            <a:ext cx="6109132"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5</a:t>
            </a:fld>
            <a:endParaRPr lang="en-US" altLang="en-US"/>
          </a:p>
        </p:txBody>
      </p:sp>
      <p:sp>
        <p:nvSpPr>
          <p:cNvPr id="6" name="Rectangle 5"/>
          <p:cNvSpPr/>
          <p:nvPr/>
        </p:nvSpPr>
        <p:spPr>
          <a:xfrm>
            <a:off x="696176" y="1424193"/>
            <a:ext cx="3775393" cy="369332"/>
          </a:xfrm>
          <a:prstGeom prst="rect">
            <a:avLst/>
          </a:prstGeom>
        </p:spPr>
        <p:txBody>
          <a:bodyPr wrap="none">
            <a:spAutoFit/>
          </a:bodyPr>
          <a:lstStyle/>
          <a:p>
            <a:r>
              <a:rPr lang="en-US" b="1" dirty="0">
                <a:solidFill>
                  <a:srgbClr val="000000"/>
                </a:solidFill>
                <a:latin typeface="Open Sans Extra Bold"/>
                <a:ea typeface="Open Sans Extra Bold"/>
                <a:cs typeface="Open Sans Extra Bold"/>
                <a:sym typeface="Open Sans Extra Bold"/>
              </a:rPr>
              <a:t>Limitations of Existing Solutions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sz="3700" dirty="0">
                <a:solidFill>
                  <a:srgbClr val="FFC000"/>
                </a:solidFill>
              </a:rPr>
              <a:t>Proposed Methodology</a:t>
            </a:r>
          </a:p>
        </p:txBody>
      </p:sp>
      <p:sp>
        <p:nvSpPr>
          <p:cNvPr id="17411" name="Rectangle 3"/>
          <p:cNvSpPr>
            <a:spLocks noGrp="1"/>
          </p:cNvSpPr>
          <p:nvPr>
            <p:ph idx="1"/>
          </p:nvPr>
        </p:nvSpPr>
        <p:spPr>
          <a:xfrm>
            <a:off x="192881" y="1331913"/>
            <a:ext cx="8493919" cy="3297237"/>
          </a:xfrm>
        </p:spPr>
        <p:txBody>
          <a:bodyPr/>
          <a:lstStyle/>
          <a:p>
            <a:pPr algn="just"/>
            <a:endParaRPr lang="en-US" sz="2400" dirty="0">
              <a:latin typeface="Times New Roman" pitchFamily="18" charset="0"/>
              <a:cs typeface="Times New Roman" pitchFamily="18" charset="0"/>
            </a:endParaRPr>
          </a:p>
          <a:p>
            <a:pPr marL="119062" indent="0">
              <a:buNone/>
            </a:pPr>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r>
              <a:rPr lang="en-US" dirty="0"/>
              <a:t>11 April 2026</a:t>
            </a:r>
          </a:p>
        </p:txBody>
      </p:sp>
      <p:sp>
        <p:nvSpPr>
          <p:cNvPr id="4" name="Footer Placeholder 3"/>
          <p:cNvSpPr>
            <a:spLocks noGrp="1"/>
          </p:cNvSpPr>
          <p:nvPr>
            <p:ph type="ftr" sz="quarter" idx="11"/>
          </p:nvPr>
        </p:nvSpPr>
        <p:spPr>
          <a:xfrm>
            <a:off x="2640013" y="4857750"/>
            <a:ext cx="5949805"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6</a:t>
            </a:fld>
            <a:endParaRPr lang="en-US" altLang="en-US"/>
          </a:p>
        </p:txBody>
      </p:sp>
      <p:sp>
        <p:nvSpPr>
          <p:cNvPr id="3" name="Rectangle 2">
            <a:extLst>
              <a:ext uri="{FF2B5EF4-FFF2-40B4-BE49-F238E27FC236}">
                <a16:creationId xmlns:a16="http://schemas.microsoft.com/office/drawing/2014/main" id="{3FD84487-F6A3-27AA-B82D-BAE7196E266C}"/>
              </a:ext>
            </a:extLst>
          </p:cNvPr>
          <p:cNvSpPr>
            <a:spLocks noGrp="1"/>
          </p:cNvSpPr>
          <p:nvPr/>
        </p:nvSpPr>
        <p:spPr>
          <a:xfrm>
            <a:off x="314093" y="975360"/>
            <a:ext cx="8493920" cy="365379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600" b="1" dirty="0"/>
              <a:t>Requirement Analysis:</a:t>
            </a:r>
            <a:r>
              <a:rPr lang="en-US" sz="1600" dirty="0"/>
              <a:t> Study home environment conditions and identify possible risks like gas leakage, fire, and intrusion.</a:t>
            </a:r>
          </a:p>
          <a:p>
            <a:pPr algn="just"/>
            <a:r>
              <a:rPr lang="en-US" sz="1600" b="1" dirty="0"/>
              <a:t>System Design:</a:t>
            </a:r>
            <a:r>
              <a:rPr lang="en-US" sz="1600" dirty="0"/>
              <a:t> Create architecture including Data Collection Module, ML Engine, and Alert System.</a:t>
            </a:r>
          </a:p>
          <a:p>
            <a:pPr algn="just"/>
            <a:r>
              <a:rPr lang="en-US" sz="1600" b="1" dirty="0"/>
              <a:t>Data Collection:</a:t>
            </a:r>
            <a:r>
              <a:rPr lang="en-US" sz="1600" dirty="0"/>
              <a:t> Collect real-time sensor data from temperature, gas, and motion sensors.</a:t>
            </a:r>
          </a:p>
          <a:p>
            <a:pPr algn="just"/>
            <a:r>
              <a:rPr lang="en-US" sz="1600" b="1" dirty="0"/>
              <a:t>Model Development:</a:t>
            </a:r>
            <a:r>
              <a:rPr lang="en-US" sz="1600" dirty="0"/>
              <a:t> Train Machine Learning models for anomaly detection and prediction</a:t>
            </a:r>
            <a:r>
              <a:rPr lang="en-US" sz="2400" dirty="0"/>
              <a:t>.</a:t>
            </a:r>
          </a:p>
          <a:p>
            <a:pPr algn="just"/>
            <a:r>
              <a:rPr lang="en-US" sz="1600" b="1" dirty="0">
                <a:latin typeface="Times New Roman" panose="02020603050405020304" pitchFamily="18" charset="0"/>
                <a:cs typeface="Times New Roman" panose="02020603050405020304" pitchFamily="18" charset="0"/>
              </a:rPr>
              <a:t>Real-Time Monitoring:</a:t>
            </a:r>
            <a:r>
              <a:rPr lang="en-US" sz="1600" dirty="0">
                <a:latin typeface="Times New Roman" panose="02020603050405020304" pitchFamily="18" charset="0"/>
                <a:cs typeface="Times New Roman" panose="02020603050405020304" pitchFamily="18" charset="0"/>
              </a:rPr>
              <a:t> System continuously monitors data and detects abnormal patterns</a:t>
            </a:r>
          </a:p>
          <a:p>
            <a:pPr algn="just"/>
            <a:r>
              <a:rPr lang="en-US" sz="1600" b="1" dirty="0"/>
              <a:t>Alert System:</a:t>
            </a:r>
            <a:r>
              <a:rPr lang="en-US" sz="1600" dirty="0"/>
              <a:t> Provide real-time notifications and warnings to users.</a:t>
            </a:r>
          </a:p>
          <a:p>
            <a:pPr algn="just"/>
            <a:r>
              <a:rPr lang="en-US" sz="1600" b="1" dirty="0"/>
              <a:t>Testing &amp; Deployment:</a:t>
            </a:r>
            <a:r>
              <a:rPr lang="en-US" sz="1600" dirty="0"/>
              <a:t> Evaluate system performance and deploy in real-time environment. </a:t>
            </a:r>
          </a:p>
          <a:p>
            <a:pPr algn="just"/>
            <a:endParaRPr lang="en-US" altLang="en-US" sz="1600"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Proposed System Architecture</a:t>
            </a:r>
          </a:p>
        </p:txBody>
      </p:sp>
      <p:sp>
        <p:nvSpPr>
          <p:cNvPr id="17411" name="Rectangle 3"/>
          <p:cNvSpPr>
            <a:spLocks noGrp="1"/>
          </p:cNvSpPr>
          <p:nvPr>
            <p:ph idx="1"/>
          </p:nvPr>
        </p:nvSpPr>
        <p:spPr>
          <a:xfrm>
            <a:off x="692727" y="1449677"/>
            <a:ext cx="8229600" cy="3297237"/>
          </a:xfrm>
        </p:spPr>
        <p:txBody>
          <a:bodyPr/>
          <a:lstStyle/>
          <a:p>
            <a:pPr algn="just"/>
            <a:endParaRPr lang="en-US" sz="2400" dirty="0">
              <a:latin typeface="Times New Roman" pitchFamily="18" charset="0"/>
              <a:cs typeface="Times New Roman" pitchFamily="18" charset="0"/>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C27BE6DF-541C-4495-BC6C-4CB756F946FF}" type="datetime3">
              <a:rPr lang="en-US" smtClean="0"/>
              <a:t>11 April 2026</a:t>
            </a:fld>
            <a:endParaRPr lang="en-US" dirty="0"/>
          </a:p>
        </p:txBody>
      </p:sp>
      <p:sp>
        <p:nvSpPr>
          <p:cNvPr id="4" name="Footer Placeholder 3"/>
          <p:cNvSpPr>
            <a:spLocks noGrp="1"/>
          </p:cNvSpPr>
          <p:nvPr>
            <p:ph type="ftr" sz="quarter" idx="11"/>
          </p:nvPr>
        </p:nvSpPr>
        <p:spPr>
          <a:xfrm>
            <a:off x="2640013" y="4857750"/>
            <a:ext cx="5977514"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7</a:t>
            </a:fld>
            <a:endParaRPr lang="en-US" altLang="en-US"/>
          </a:p>
        </p:txBody>
      </p:sp>
      <p:pic>
        <p:nvPicPr>
          <p:cNvPr id="7" name="Picture 6">
            <a:extLst>
              <a:ext uri="{FF2B5EF4-FFF2-40B4-BE49-F238E27FC236}">
                <a16:creationId xmlns:a16="http://schemas.microsoft.com/office/drawing/2014/main" id="{E8ED6C49-FA7C-3EFB-06F1-783A1DAE8AEC}"/>
              </a:ext>
            </a:extLst>
          </p:cNvPr>
          <p:cNvPicPr>
            <a:picLocks noChangeAspect="1"/>
          </p:cNvPicPr>
          <p:nvPr/>
        </p:nvPicPr>
        <p:blipFill>
          <a:blip r:embed="rId2"/>
          <a:stretch>
            <a:fillRect/>
          </a:stretch>
        </p:blipFill>
        <p:spPr>
          <a:xfrm>
            <a:off x="375920" y="1153715"/>
            <a:ext cx="8310880" cy="36709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 -1  </a:t>
            </a:r>
          </a:p>
        </p:txBody>
      </p:sp>
      <p:sp>
        <p:nvSpPr>
          <p:cNvPr id="17411" name="Rectangle 3"/>
          <p:cNvSpPr>
            <a:spLocks noGrp="1"/>
          </p:cNvSpPr>
          <p:nvPr>
            <p:ph idx="1"/>
          </p:nvPr>
        </p:nvSpPr>
        <p:spPr>
          <a:xfrm>
            <a:off x="457200" y="890017"/>
            <a:ext cx="8229600" cy="3739134"/>
          </a:xfrm>
        </p:spPr>
        <p:txBody>
          <a:bodyPr>
            <a:normAutofit lnSpcReduction="10000"/>
          </a:bodyPr>
          <a:lstStyle/>
          <a:p>
            <a:r>
              <a:rPr lang="en-US" sz="2400" b="1" dirty="0"/>
              <a:t>Data Acquisition Module:</a:t>
            </a:r>
            <a:br>
              <a:rPr lang="en-US" sz="2400" dirty="0"/>
            </a:br>
            <a:r>
              <a:rPr lang="en-US" sz="2400" dirty="0"/>
              <a:t>This module is responsible for collecting real-time data using sensors such as temperature, gas, and motion sensors. These sensors are connected to an IoT device like ESP32 or Arduino, which continuously gathers environmental data from the home. The collected data is transmitted to the server or cloud for processing.</a:t>
            </a:r>
          </a:p>
          <a:p>
            <a:r>
              <a:rPr lang="en-US" sz="2400" dirty="0"/>
              <a:t>This module focuses on identifying real-time conditions inside the home and detecting potential risks such as fire, gas leakage, or unauthorized entry.</a:t>
            </a:r>
          </a:p>
          <a:p>
            <a:pPr algn="just"/>
            <a:endParaRPr lang="en-US" sz="24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6F33DD6B-0B28-491A-A486-1BACEB1B935B}" type="datetime3">
              <a:rPr lang="en-US" smtClean="0"/>
              <a:t>11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 -2  </a:t>
            </a:r>
          </a:p>
        </p:txBody>
      </p:sp>
      <p:sp>
        <p:nvSpPr>
          <p:cNvPr id="17411" name="Rectangle 3"/>
          <p:cNvSpPr>
            <a:spLocks noGrp="1"/>
          </p:cNvSpPr>
          <p:nvPr>
            <p:ph idx="1"/>
          </p:nvPr>
        </p:nvSpPr>
        <p:spPr>
          <a:xfrm>
            <a:off x="457200" y="1153715"/>
            <a:ext cx="8229600" cy="3475435"/>
          </a:xfrm>
        </p:spPr>
        <p:txBody>
          <a:bodyPr>
            <a:normAutofit/>
          </a:bodyPr>
          <a:lstStyle/>
          <a:p>
            <a:pPr algn="just"/>
            <a:endParaRPr lang="en-US" sz="2400" dirty="0">
              <a:latin typeface="Times New Roman" pitchFamily="18" charset="0"/>
              <a:cs typeface="Times New Roman" pitchFamily="18" charset="0"/>
            </a:endParaRPr>
          </a:p>
          <a:p>
            <a:r>
              <a:rPr lang="en-US" sz="2400" b="1" dirty="0"/>
              <a:t>Data Processing &amp; Storage Module:</a:t>
            </a:r>
            <a:br>
              <a:rPr lang="en-US" sz="2400" dirty="0"/>
            </a:br>
            <a:r>
              <a:rPr lang="en-US" sz="2400" dirty="0"/>
              <a:t>In this module, raw sensor data is cleaned, filtered, and preprocessed to remove noise and missing values. Important features are extracted for analysis. The processed data is then stored securely in a database or cloud platform.</a:t>
            </a:r>
          </a:p>
          <a:p>
            <a:r>
              <a:rPr lang="en-US" sz="2400" dirty="0"/>
              <a:t>This module prepares structured data for Machine Learning analysis and ensures reliable data handling.</a:t>
            </a: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6D4D9957-7CDC-40CA-BDB9-1A230A56E468}" type="datetime3">
              <a:rPr lang="en-US" smtClean="0"/>
              <a:t>11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Modules -3  </a:t>
            </a:r>
          </a:p>
        </p:txBody>
      </p:sp>
      <p:sp>
        <p:nvSpPr>
          <p:cNvPr id="17411" name="Rectangle 3"/>
          <p:cNvSpPr>
            <a:spLocks noGrp="1"/>
          </p:cNvSpPr>
          <p:nvPr>
            <p:ph idx="1"/>
          </p:nvPr>
        </p:nvSpPr>
        <p:spPr>
          <a:xfrm>
            <a:off x="365760" y="1063229"/>
            <a:ext cx="8321040" cy="3565921"/>
          </a:xfrm>
        </p:spPr>
        <p:txBody>
          <a:bodyPr>
            <a:normAutofit fontScale="85000" lnSpcReduction="10000"/>
          </a:bodyPr>
          <a:lstStyle/>
          <a:p>
            <a:pPr algn="just"/>
            <a:endParaRPr lang="en-US" sz="2400" dirty="0">
              <a:latin typeface="Times New Roman" pitchFamily="18" charset="0"/>
              <a:cs typeface="Times New Roman" pitchFamily="18" charset="0"/>
            </a:endParaRPr>
          </a:p>
          <a:p>
            <a:r>
              <a:rPr lang="en-US" b="1" dirty="0"/>
              <a:t>AI &amp; Anomaly Detection Module:</a:t>
            </a:r>
            <a:br>
              <a:rPr lang="en-US" dirty="0"/>
            </a:br>
            <a:r>
              <a:rPr lang="en-US" dirty="0"/>
              <a:t>This module applies Machine Learning algorithms to analyze patterns in the collected data. It detects abnormal behavior such as sudden temperature rise, gas leakage, or unusual motion.</a:t>
            </a:r>
          </a:p>
          <a:p>
            <a:r>
              <a:rPr lang="en-US" dirty="0"/>
              <a:t>The AI model continuously monitors data and predicts potential risks based on learned patterns. It generates alerts when abnormal conditions are detected.</a:t>
            </a:r>
          </a:p>
        </p:txBody>
      </p:sp>
      <p:sp>
        <p:nvSpPr>
          <p:cNvPr id="2" name="Date Placeholder 1"/>
          <p:cNvSpPr>
            <a:spLocks noGrp="1"/>
          </p:cNvSpPr>
          <p:nvPr>
            <p:ph type="dt" sz="half" idx="10"/>
          </p:nvPr>
        </p:nvSpPr>
        <p:spPr/>
        <p:txBody>
          <a:bodyPr/>
          <a:lstStyle/>
          <a:p>
            <a:pPr>
              <a:defRPr/>
            </a:pPr>
            <a:fld id="{8037AF3A-1BA4-4ABC-931A-1FCF1E47830D}" type="datetime3">
              <a:rPr lang="en-US" smtClean="0"/>
              <a:t>11 April 2026</a:t>
            </a:fld>
            <a:endParaRPr lang="en-US" dirty="0"/>
          </a:p>
        </p:txBody>
      </p:sp>
      <p:sp>
        <p:nvSpPr>
          <p:cNvPr id="4" name="Footer Placeholder 3"/>
          <p:cNvSpPr>
            <a:spLocks noGrp="1"/>
          </p:cNvSpPr>
          <p:nvPr>
            <p:ph type="ftr" sz="quarter" idx="11"/>
          </p:nvPr>
        </p:nvSpPr>
        <p:spPr>
          <a:xfrm>
            <a:off x="2640013" y="4857750"/>
            <a:ext cx="6046787"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Modules -4  </a:t>
            </a:r>
          </a:p>
        </p:txBody>
      </p:sp>
      <p:sp>
        <p:nvSpPr>
          <p:cNvPr id="17411" name="Rectangle 3"/>
          <p:cNvSpPr>
            <a:spLocks noGrp="1"/>
          </p:cNvSpPr>
          <p:nvPr>
            <p:ph idx="1"/>
          </p:nvPr>
        </p:nvSpPr>
        <p:spPr>
          <a:xfrm>
            <a:off x="457200" y="1331913"/>
            <a:ext cx="8229600" cy="3297237"/>
          </a:xfrm>
        </p:spPr>
        <p:txBody>
          <a:bodyPr>
            <a:normAutofit fontScale="77500" lnSpcReduction="20000"/>
          </a:bodyPr>
          <a:lstStyle/>
          <a:p>
            <a:pPr algn="just"/>
            <a:endParaRPr lang="en-US" sz="2400" dirty="0">
              <a:latin typeface="Times New Roman" pitchFamily="18" charset="0"/>
              <a:cs typeface="Times New Roman" pitchFamily="18" charset="0"/>
            </a:endParaRPr>
          </a:p>
          <a:p>
            <a:r>
              <a:rPr lang="en-US" b="1" dirty="0"/>
              <a:t>Alert &amp; Visualization Module:</a:t>
            </a:r>
            <a:br>
              <a:rPr lang="en-US" dirty="0"/>
            </a:br>
            <a:r>
              <a:rPr lang="en-US" dirty="0"/>
              <a:t>This module provides real-time alerts and notifications to users through mobile applications or dashboards. It displays system status such as Normal, Warning, or Critical conditions along with graphical reports and logs.</a:t>
            </a:r>
          </a:p>
          <a:p>
            <a:r>
              <a:rPr lang="en-US" dirty="0"/>
              <a:t>This module helps users take immediate action and ensures safety and efficient monitoring of the smart home.</a:t>
            </a:r>
          </a:p>
          <a:p>
            <a:pPr marL="119062" indent="0">
              <a:buNone/>
            </a:pPr>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3C11450C-0D11-4C1F-BD96-C7A07FB7E0FC}" type="datetime3">
              <a:rPr lang="en-US" smtClean="0"/>
              <a:t>11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 Implementation Details</a:t>
            </a:r>
            <a:br>
              <a:rPr lang="en-US" altLang="en-US" dirty="0">
                <a:solidFill>
                  <a:srgbClr val="FFC000"/>
                </a:solidFill>
              </a:rPr>
            </a:br>
            <a:endParaRPr lang="en-US" altLang="en-US" dirty="0">
              <a:solidFill>
                <a:srgbClr val="FFC000"/>
              </a:solidFill>
            </a:endParaRPr>
          </a:p>
        </p:txBody>
      </p:sp>
      <p:sp>
        <p:nvSpPr>
          <p:cNvPr id="17411" name="Rectangle 3"/>
          <p:cNvSpPr>
            <a:spLocks noGrp="1"/>
          </p:cNvSpPr>
          <p:nvPr>
            <p:ph idx="1"/>
          </p:nvPr>
        </p:nvSpPr>
        <p:spPr>
          <a:xfrm>
            <a:off x="457200" y="1331913"/>
            <a:ext cx="8229600" cy="3297237"/>
          </a:xfrm>
        </p:spPr>
        <p:txBody>
          <a:bodyPr/>
          <a:lstStyle/>
          <a:p>
            <a:pPr algn="just"/>
            <a:endParaRPr lang="en-US" sz="2400" dirty="0">
              <a:latin typeface="Times New Roman" pitchFamily="18" charset="0"/>
              <a:cs typeface="Times New Roman" pitchFamily="18" charset="0"/>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758B3E99-CB2E-425E-8CED-51697BF29159}" type="datetime3">
              <a:rPr lang="en-US" smtClean="0"/>
              <a:t>11 April 2026</a:t>
            </a:fld>
            <a:endParaRPr lang="en-US" dirty="0"/>
          </a:p>
        </p:txBody>
      </p:sp>
      <p:sp>
        <p:nvSpPr>
          <p:cNvPr id="4" name="Footer Placeholder 3"/>
          <p:cNvSpPr>
            <a:spLocks noGrp="1"/>
          </p:cNvSpPr>
          <p:nvPr>
            <p:ph type="ftr" sz="quarter" idx="11"/>
          </p:nvPr>
        </p:nvSpPr>
        <p:spPr>
          <a:xfrm>
            <a:off x="2640013" y="4857750"/>
            <a:ext cx="5970587"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12</a:t>
            </a:fld>
            <a:endParaRPr lang="en-US" altLang="en-US"/>
          </a:p>
        </p:txBody>
      </p:sp>
      <p:sp>
        <p:nvSpPr>
          <p:cNvPr id="5" name="Rectangle 4"/>
          <p:cNvSpPr/>
          <p:nvPr/>
        </p:nvSpPr>
        <p:spPr>
          <a:xfrm>
            <a:off x="148777" y="791987"/>
            <a:ext cx="8777481" cy="3139321"/>
          </a:xfrm>
          <a:prstGeom prst="rect">
            <a:avLst/>
          </a:prstGeom>
        </p:spPr>
        <p:txBody>
          <a:bodyPr wrap="square">
            <a:spAutoFit/>
          </a:bodyPr>
          <a:lstStyle/>
          <a:p>
            <a:r>
              <a:rPr lang="en-IN" b="1" dirty="0"/>
              <a:t>Data Acquisition:</a:t>
            </a:r>
            <a:br>
              <a:rPr lang="en-IN" dirty="0"/>
            </a:br>
            <a:r>
              <a:rPr lang="en-IN" dirty="0"/>
              <a:t>Sensors + IoT device (ESP32 / Arduino)</a:t>
            </a:r>
          </a:p>
          <a:p>
            <a:r>
              <a:rPr lang="en-IN" b="1" dirty="0"/>
              <a:t>Data Preprocessing:</a:t>
            </a:r>
            <a:br>
              <a:rPr lang="en-IN" dirty="0"/>
            </a:br>
            <a:r>
              <a:rPr lang="en-IN" dirty="0"/>
              <a:t>Python (NumPy, Pandas)</a:t>
            </a:r>
            <a:br>
              <a:rPr lang="en-IN" dirty="0"/>
            </a:br>
            <a:r>
              <a:rPr lang="en-IN" dirty="0"/>
              <a:t>Cleaning and normalization</a:t>
            </a:r>
          </a:p>
          <a:p>
            <a:r>
              <a:rPr lang="en-IN" b="1" dirty="0"/>
              <a:t>Machine Learning Model:</a:t>
            </a:r>
            <a:br>
              <a:rPr lang="en-IN" dirty="0"/>
            </a:br>
            <a:r>
              <a:rPr lang="en-IN" dirty="0"/>
              <a:t>Algorithms: Random Forest / Isolation Forest / Neural Networks</a:t>
            </a:r>
            <a:br>
              <a:rPr lang="en-IN" dirty="0"/>
            </a:br>
            <a:r>
              <a:rPr lang="en-IN" dirty="0"/>
              <a:t>Training using collected data</a:t>
            </a:r>
            <a:br>
              <a:rPr lang="en-IN" dirty="0"/>
            </a:br>
            <a:r>
              <a:rPr lang="en-IN" dirty="0"/>
              <a:t>Evaluation using accuracy</a:t>
            </a:r>
          </a:p>
          <a:p>
            <a:br>
              <a:rPr lang="en-IN" dirty="0"/>
            </a:br>
            <a:endParaRPr lang="en-US" b="1" dirty="0">
              <a:solidFill>
                <a:srgbClr val="000000"/>
              </a:solidFill>
              <a:latin typeface="Open Sans Extra Bold"/>
              <a:ea typeface="Open Sans Extra Bold"/>
              <a:cs typeface="Open Sans Extra Bold"/>
              <a:sym typeface="Open Sans Extra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C000"/>
                </a:solidFill>
              </a:rPr>
              <a:t>Testing &amp; Validation</a:t>
            </a:r>
            <a:br>
              <a:rPr lang="en-IN" dirty="0"/>
            </a:br>
            <a:endParaRPr lang="en-IN" dirty="0"/>
          </a:p>
        </p:txBody>
      </p:sp>
      <p:sp>
        <p:nvSpPr>
          <p:cNvPr id="3" name="Content Placeholder 2"/>
          <p:cNvSpPr>
            <a:spLocks noGrp="1"/>
          </p:cNvSpPr>
          <p:nvPr>
            <p:ph idx="1"/>
          </p:nvPr>
        </p:nvSpPr>
        <p:spPr>
          <a:xfrm>
            <a:off x="560439" y="619432"/>
            <a:ext cx="8119217" cy="4011562"/>
          </a:xfrm>
        </p:spPr>
        <p:txBody>
          <a:bodyPr>
            <a:normAutofit fontScale="70000" lnSpcReduction="20000"/>
          </a:bodyPr>
          <a:lstStyle/>
          <a:p>
            <a:r>
              <a:rPr lang="en-US" sz="2800" b="1" dirty="0"/>
              <a:t>Testing Methodology:</a:t>
            </a:r>
            <a:endParaRPr lang="en-US" sz="2800" dirty="0"/>
          </a:p>
          <a:p>
            <a:r>
              <a:rPr lang="en-US" sz="2800" dirty="0"/>
              <a:t>Real-time sensor testing </a:t>
            </a:r>
          </a:p>
          <a:p>
            <a:r>
              <a:rPr lang="en-US" sz="2800" dirty="0"/>
              <a:t>Simulation testing </a:t>
            </a:r>
          </a:p>
          <a:p>
            <a:r>
              <a:rPr lang="en-US" sz="2800" b="1" dirty="0"/>
              <a:t>Test Cases:</a:t>
            </a:r>
            <a:endParaRPr lang="en-US" sz="2800" dirty="0"/>
          </a:p>
          <a:p>
            <a:r>
              <a:rPr lang="en-US" sz="2800" dirty="0"/>
              <a:t>Normal condition </a:t>
            </a:r>
          </a:p>
          <a:p>
            <a:r>
              <a:rPr lang="en-US" sz="2800" dirty="0"/>
              <a:t>Gas leakage </a:t>
            </a:r>
          </a:p>
          <a:p>
            <a:r>
              <a:rPr lang="en-US" sz="2800" dirty="0"/>
              <a:t>High temperature/fire </a:t>
            </a:r>
          </a:p>
          <a:p>
            <a:r>
              <a:rPr lang="en-US" sz="2800" dirty="0"/>
              <a:t>Unauthorized motion </a:t>
            </a:r>
          </a:p>
          <a:p>
            <a:r>
              <a:rPr lang="en-US" sz="2800" b="1" dirty="0"/>
              <a:t>Validation Metrics:</a:t>
            </a:r>
            <a:endParaRPr lang="en-US" sz="2800" dirty="0"/>
          </a:p>
          <a:p>
            <a:r>
              <a:rPr lang="en-US" sz="2800" dirty="0"/>
              <a:t>Accuracy </a:t>
            </a:r>
          </a:p>
          <a:p>
            <a:r>
              <a:rPr lang="en-US" sz="2800" dirty="0"/>
              <a:t>Detection rate </a:t>
            </a:r>
          </a:p>
          <a:p>
            <a:r>
              <a:rPr lang="en-US" sz="2800" dirty="0"/>
              <a:t>Response time</a:t>
            </a:r>
          </a:p>
          <a:p>
            <a:pPr algn="just">
              <a:defRPr/>
            </a:pPr>
            <a:endParaRPr lang="en-IN" sz="2500" dirty="0"/>
          </a:p>
        </p:txBody>
      </p:sp>
      <p:sp>
        <p:nvSpPr>
          <p:cNvPr id="4" name="Date Placeholder 3"/>
          <p:cNvSpPr>
            <a:spLocks noGrp="1"/>
          </p:cNvSpPr>
          <p:nvPr>
            <p:ph type="dt" sz="half" idx="10"/>
          </p:nvPr>
        </p:nvSpPr>
        <p:spPr/>
        <p:txBody>
          <a:bodyPr/>
          <a:lstStyle/>
          <a:p>
            <a:pPr>
              <a:defRPr/>
            </a:pPr>
            <a:fld id="{BB9E9B86-2CF4-48B1-B6D7-BAFE5AD3290E}"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Tree>
    <p:extLst>
      <p:ext uri="{BB962C8B-B14F-4D97-AF65-F5344CB8AC3E}">
        <p14:creationId xmlns:p14="http://schemas.microsoft.com/office/powerpoint/2010/main" val="81134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9139"/>
            <a:ext cx="8229600" cy="324089"/>
          </a:xfrm>
        </p:spPr>
        <p:txBody>
          <a:bodyPr>
            <a:noAutofit/>
          </a:bodyPr>
          <a:lstStyle/>
          <a:p>
            <a:r>
              <a:rPr lang="en-IN" sz="3500" dirty="0">
                <a:solidFill>
                  <a:srgbClr val="FFC000"/>
                </a:solidFill>
              </a:rPr>
              <a:t>Preliminary Results &amp; Analysis</a:t>
            </a:r>
            <a:br>
              <a:rPr lang="en-IN" sz="3500" dirty="0">
                <a:solidFill>
                  <a:srgbClr val="FFC000"/>
                </a:solidFill>
              </a:rPr>
            </a:br>
            <a:endParaRPr lang="en-IN" sz="3500" dirty="0">
              <a:solidFill>
                <a:srgbClr val="FFC000"/>
              </a:solidFill>
            </a:endParaRPr>
          </a:p>
        </p:txBody>
      </p:sp>
      <p:sp>
        <p:nvSpPr>
          <p:cNvPr id="4" name="Date Placeholder 3"/>
          <p:cNvSpPr>
            <a:spLocks noGrp="1"/>
          </p:cNvSpPr>
          <p:nvPr>
            <p:ph type="dt" sz="half" idx="10"/>
          </p:nvPr>
        </p:nvSpPr>
        <p:spPr/>
        <p:txBody>
          <a:bodyPr/>
          <a:lstStyle/>
          <a:p>
            <a:pPr>
              <a:defRPr/>
            </a:pPr>
            <a:fld id="{BB9E9B86-2CF4-48B1-B6D7-BAFE5AD3290E}" type="datetime3">
              <a:rPr lang="en-US" smtClean="0"/>
              <a:t>11 April 2026</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7" name="Rectangle 1">
            <a:extLst>
              <a:ext uri="{FF2B5EF4-FFF2-40B4-BE49-F238E27FC236}">
                <a16:creationId xmlns:a16="http://schemas.microsoft.com/office/drawing/2014/main" id="{DA76EC41-AB9C-51B5-4CC1-3AB18E9A6B2D}"/>
              </a:ext>
            </a:extLst>
          </p:cNvPr>
          <p:cNvSpPr>
            <a:spLocks noGrp="1" noChangeArrowheads="1"/>
          </p:cNvSpPr>
          <p:nvPr>
            <p:ph idx="1"/>
          </p:nvPr>
        </p:nvSpPr>
        <p:spPr bwMode="auto">
          <a:xfrm>
            <a:off x="361950" y="1188620"/>
            <a:ext cx="8420100"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1600" dirty="0"/>
              <a:t>The Smart Home Anomaly Detection system was tested using real-time sensor data. The system successfully monitored environmental parameters such as temperature, gas levels, and motion activity.</a:t>
            </a:r>
          </a:p>
          <a:p>
            <a:r>
              <a:rPr lang="en-US" sz="1600" dirty="0"/>
              <a:t>The Machine Learning model identified abnormal conditions with an accuracy of approximately </a:t>
            </a:r>
            <a:r>
              <a:rPr lang="en-US" sz="1600" b="1" dirty="0"/>
              <a:t>90%</a:t>
            </a:r>
            <a:r>
              <a:rPr lang="en-US" sz="1600" dirty="0"/>
              <a:t>.</a:t>
            </a:r>
          </a:p>
          <a:p>
            <a:r>
              <a:rPr lang="en-US" sz="1600" b="1" dirty="0"/>
              <a:t>Analysis:</a:t>
            </a:r>
            <a:endParaRPr lang="en-US" sz="1600" dirty="0"/>
          </a:p>
          <a:p>
            <a:r>
              <a:rPr lang="en-US" sz="1600" dirty="0"/>
              <a:t>Early detection of dangerous situations </a:t>
            </a:r>
          </a:p>
          <a:p>
            <a:r>
              <a:rPr lang="en-US" sz="1600" dirty="0"/>
              <a:t>Improved home safety </a:t>
            </a:r>
          </a:p>
          <a:p>
            <a:r>
              <a:rPr lang="en-US" sz="1600" dirty="0"/>
              <a:t>Faster response compared to manual monitoring </a:t>
            </a:r>
          </a:p>
          <a:p>
            <a:r>
              <a:rPr lang="en-US" sz="1600" dirty="0"/>
              <a:t>Continuous real-time monitoring system</a:t>
            </a:r>
          </a:p>
          <a:p>
            <a:pPr marL="0" lvl="0" indent="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1114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chor="ctr" anchorCtr="1">
            <a:noAutofit/>
          </a:bodyPr>
          <a:lstStyle/>
          <a:p>
            <a:pPr algn="ctr">
              <a:defRPr/>
            </a:pPr>
            <a:r>
              <a:rPr lang="en-US" altLang="en-US" sz="3500" dirty="0">
                <a:solidFill>
                  <a:srgbClr val="FFC000"/>
                </a:solidFill>
              </a:rPr>
              <a:t>Software &amp; Hardware Requirements  Specification </a:t>
            </a:r>
          </a:p>
        </p:txBody>
      </p:sp>
      <p:sp>
        <p:nvSpPr>
          <p:cNvPr id="17411" name="Rectangle 3"/>
          <p:cNvSpPr>
            <a:spLocks noGrp="1"/>
          </p:cNvSpPr>
          <p:nvPr>
            <p:ph idx="1"/>
          </p:nvPr>
        </p:nvSpPr>
        <p:spPr>
          <a:xfrm>
            <a:off x="457200" y="1331913"/>
            <a:ext cx="8229600" cy="3297237"/>
          </a:xfrm>
        </p:spPr>
        <p:txBody>
          <a:bodyPr>
            <a:normAutofit fontScale="55000" lnSpcReduction="20000"/>
          </a:bodyPr>
          <a:lstStyle/>
          <a:p>
            <a:pPr algn="just"/>
            <a:endParaRPr lang="en-US" sz="2400" dirty="0">
              <a:latin typeface="Times New Roman" pitchFamily="18" charset="0"/>
              <a:cs typeface="Times New Roman" pitchFamily="18" charset="0"/>
            </a:endParaRPr>
          </a:p>
          <a:p>
            <a:r>
              <a:rPr lang="en-IN" b="1" dirty="0"/>
              <a:t>Hardware Requirements:</a:t>
            </a:r>
            <a:endParaRPr lang="en-IN" dirty="0"/>
          </a:p>
          <a:p>
            <a:r>
              <a:rPr lang="en-IN" dirty="0"/>
              <a:t>ESP32 / Arduino </a:t>
            </a:r>
          </a:p>
          <a:p>
            <a:r>
              <a:rPr lang="en-IN" dirty="0"/>
              <a:t>Temperature Sensor </a:t>
            </a:r>
          </a:p>
          <a:p>
            <a:r>
              <a:rPr lang="en-IN" dirty="0"/>
              <a:t>Gas Sensor </a:t>
            </a:r>
          </a:p>
          <a:p>
            <a:r>
              <a:rPr lang="en-IN" dirty="0"/>
              <a:t>Motion Sensor </a:t>
            </a:r>
          </a:p>
          <a:p>
            <a:r>
              <a:rPr lang="en-IN" dirty="0"/>
              <a:t>Power Supply </a:t>
            </a:r>
          </a:p>
          <a:p>
            <a:r>
              <a:rPr lang="en-IN" dirty="0"/>
              <a:t>Wi-Fi Module </a:t>
            </a:r>
          </a:p>
          <a:p>
            <a:r>
              <a:rPr lang="en-IN" b="1" dirty="0"/>
              <a:t>Software Requirements:</a:t>
            </a:r>
            <a:endParaRPr lang="en-IN" dirty="0"/>
          </a:p>
          <a:p>
            <a:r>
              <a:rPr lang="en-IN" dirty="0"/>
              <a:t>Arduino IDE / VS Code </a:t>
            </a:r>
          </a:p>
          <a:p>
            <a:r>
              <a:rPr lang="en-IN" dirty="0"/>
              <a:t>Python Programming </a:t>
            </a:r>
          </a:p>
          <a:p>
            <a:r>
              <a:rPr lang="en-IN" dirty="0"/>
              <a:t>Machine Learning Libraries (NumPy, Pandas, Scikit-learn, TensorFlow)</a:t>
            </a: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02A9E7BC-88D7-4AEC-8A80-D9F328442F02}" type="datetime3">
              <a:rPr lang="en-US" smtClean="0"/>
              <a:t>11 April 2026</a:t>
            </a:fld>
            <a:endParaRPr lang="en-US" dirty="0"/>
          </a:p>
        </p:txBody>
      </p:sp>
      <p:sp>
        <p:nvSpPr>
          <p:cNvPr id="4" name="Footer Placeholder 3"/>
          <p:cNvSpPr>
            <a:spLocks noGrp="1"/>
          </p:cNvSpPr>
          <p:nvPr>
            <p:ph type="ftr" sz="quarter" idx="11"/>
          </p:nvPr>
        </p:nvSpPr>
        <p:spPr>
          <a:xfrm>
            <a:off x="2640013" y="4857750"/>
            <a:ext cx="5929023" cy="206375"/>
          </a:xfrm>
        </p:spPr>
        <p:txBody>
          <a:bodyPr/>
          <a:lstStyle/>
          <a:p>
            <a:pPr>
              <a:defRPr/>
            </a:pPr>
            <a:r>
              <a:rPr lang="en-US" dirty="0"/>
              <a:t>BATCH NO:          DEPARTMENT OF COMPUTER SCIENCE &amp; ENGINEERING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Conclusion and Future Work</a:t>
            </a:r>
          </a:p>
        </p:txBody>
      </p:sp>
      <p:sp>
        <p:nvSpPr>
          <p:cNvPr id="22531" name="Rectangle 3"/>
          <p:cNvSpPr>
            <a:spLocks noGrp="1"/>
          </p:cNvSpPr>
          <p:nvPr>
            <p:ph idx="1"/>
          </p:nvPr>
        </p:nvSpPr>
        <p:spPr>
          <a:xfrm>
            <a:off x="170985" y="1405053"/>
            <a:ext cx="8515815" cy="3532467"/>
          </a:xfrm>
        </p:spPr>
        <p:txBody>
          <a:bodyPr>
            <a:normAutofit/>
          </a:bodyPr>
          <a:lstStyle/>
          <a:p>
            <a:r>
              <a:rPr lang="en-US" sz="1800" b="1" dirty="0"/>
              <a:t>Conclusion:</a:t>
            </a:r>
            <a:endParaRPr lang="en-US" sz="1800" dirty="0"/>
          </a:p>
          <a:p>
            <a:r>
              <a:rPr lang="en-US" sz="1800" dirty="0"/>
              <a:t>Successfully developed Smart Home Anomaly Detection system </a:t>
            </a:r>
          </a:p>
          <a:p>
            <a:r>
              <a:rPr lang="en-US" sz="1800" dirty="0"/>
              <a:t>Provides real-time monitoring and alert system </a:t>
            </a:r>
          </a:p>
          <a:p>
            <a:r>
              <a:rPr lang="en-US" sz="1800" dirty="0"/>
              <a:t>Improves safety and reduces risks </a:t>
            </a:r>
          </a:p>
          <a:p>
            <a:r>
              <a:rPr lang="en-US" sz="1800" dirty="0"/>
              <a:t>Works efficiently using IoT and Machine Learning </a:t>
            </a:r>
          </a:p>
          <a:p>
            <a:r>
              <a:rPr lang="en-US" sz="1800" b="1" dirty="0"/>
              <a:t>Future Work:</a:t>
            </a:r>
            <a:endParaRPr lang="en-US" sz="1800" dirty="0"/>
          </a:p>
          <a:p>
            <a:r>
              <a:rPr lang="en-US" sz="1800" dirty="0"/>
              <a:t>Integrate mobile application </a:t>
            </a:r>
          </a:p>
          <a:p>
            <a:r>
              <a:rPr lang="en-US" sz="1800" dirty="0"/>
              <a:t>Use advanced deep learning models </a:t>
            </a:r>
          </a:p>
          <a:p>
            <a:r>
              <a:rPr lang="en-US" sz="1800" dirty="0"/>
              <a:t>Add voice assistant support </a:t>
            </a:r>
          </a:p>
          <a:p>
            <a:r>
              <a:rPr lang="en-US" sz="1800" dirty="0"/>
              <a:t>Expand to smart city systems</a:t>
            </a:r>
          </a:p>
          <a:p>
            <a:endParaRPr lang="en-US" sz="12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C163FE90-D020-4B3E-8B4D-100D42E03330}" type="datetime3">
              <a:rPr lang="en-US" smtClean="0"/>
              <a:t>11 April 2026</a:t>
            </a:fld>
            <a:endParaRPr lang="en-US" dirty="0"/>
          </a:p>
        </p:txBody>
      </p:sp>
      <p:sp>
        <p:nvSpPr>
          <p:cNvPr id="4" name="Footer Placeholder 3"/>
          <p:cNvSpPr>
            <a:spLocks noGrp="1"/>
          </p:cNvSpPr>
          <p:nvPr>
            <p:ph type="ftr" sz="quarter" idx="11"/>
          </p:nvPr>
        </p:nvSpPr>
        <p:spPr>
          <a:xfrm>
            <a:off x="2640013" y="4857750"/>
            <a:ext cx="5977514" cy="206375"/>
          </a:xfrm>
        </p:spPr>
        <p:txBody>
          <a:bodyPr/>
          <a:lstStyle/>
          <a:p>
            <a:pPr>
              <a:defRPr/>
            </a:pPr>
            <a:r>
              <a:rPr lang="en-US" dirty="0"/>
              <a:t>BATCH NO:          DEPARTMENT OF COMPUTER SCIENCE &amp; ENGINEERING </a:t>
            </a:r>
          </a:p>
        </p:txBody>
      </p:sp>
      <p:sp>
        <p:nvSpPr>
          <p:cNvPr id="2253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00166CF0-84B4-4016-8045-F92C16523328}" type="slidenum">
              <a:rPr lang="en-US" altLang="en-US"/>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dirty="0">
                <a:solidFill>
                  <a:srgbClr val="FFC000"/>
                </a:solidFill>
              </a:rPr>
              <a:t>References</a:t>
            </a:r>
            <a:br>
              <a:rPr lang="en-IN" dirty="0">
                <a:solidFill>
                  <a:srgbClr val="FFC000"/>
                </a:solidFill>
              </a:rPr>
            </a:br>
            <a:endParaRPr lang="en-IN" dirty="0">
              <a:solidFill>
                <a:srgbClr val="FFC000"/>
              </a:solidFill>
            </a:endParaRPr>
          </a:p>
        </p:txBody>
      </p:sp>
      <p:sp>
        <p:nvSpPr>
          <p:cNvPr id="3" name="Content Placeholder 2"/>
          <p:cNvSpPr>
            <a:spLocks noGrp="1"/>
          </p:cNvSpPr>
          <p:nvPr>
            <p:ph idx="1"/>
          </p:nvPr>
        </p:nvSpPr>
        <p:spPr/>
        <p:txBody>
          <a:bodyPr>
            <a:normAutofit fontScale="55000" lnSpcReduction="20000"/>
          </a:bodyPr>
          <a:lstStyle/>
          <a:p>
            <a:pPr marL="119062" indent="0">
              <a:buNone/>
            </a:pPr>
            <a:r>
              <a:rPr lang="en-US" dirty="0"/>
              <a:t>Research Paper – “Predictive Maintenance using Machine Learning in Industrial IoT” – IEEE Xplore Digital Library.</a:t>
            </a:r>
          </a:p>
          <a:p>
            <a:pPr marL="461962">
              <a:buFont typeface="+mj-lt"/>
              <a:buAutoNum type="arabicParenR"/>
            </a:pPr>
            <a:r>
              <a:rPr lang="en-US" dirty="0"/>
              <a:t>Research Paper – “Anomaly Detection in Industrial Machines using IoT and AI Techniques” – Springer Journal of Industrial </a:t>
            </a:r>
            <a:r>
              <a:rPr lang="en-US" dirty="0" err="1"/>
              <a:t>Engineering.YouTube</a:t>
            </a:r>
            <a:r>
              <a:rPr lang="en-US" dirty="0"/>
              <a:t> – “ESP32 IoT Tutorial for Beginners”</a:t>
            </a:r>
            <a:r>
              <a:rPr lang="en-IN" dirty="0">
                <a:hlinkClick r:id="rId2"/>
              </a:rPr>
              <a:t>https://youtu.be/WqgRCDiuehU</a:t>
            </a:r>
            <a:endParaRPr lang="en-IN" dirty="0"/>
          </a:p>
          <a:p>
            <a:pPr marL="461962">
              <a:buFont typeface="+mj-lt"/>
              <a:buAutoNum type="arabicParenR"/>
            </a:pPr>
            <a:r>
              <a:rPr lang="en-US" dirty="0"/>
              <a:t>YouTube – “Machine Learning for Predictive Maintenance” </a:t>
            </a:r>
            <a:r>
              <a:rPr lang="en-US" dirty="0">
                <a:hlinkClick r:id="rId3"/>
              </a:rPr>
              <a:t>https://youtu.be/1gGxR0yZ6qk</a:t>
            </a:r>
            <a:endParaRPr lang="en-US" dirty="0"/>
          </a:p>
          <a:p>
            <a:pPr marL="461962">
              <a:buFont typeface="+mj-lt"/>
              <a:buAutoNum type="arabicParenR"/>
            </a:pPr>
            <a:r>
              <a:rPr lang="en-US" dirty="0" err="1"/>
              <a:t>ThingSpeak</a:t>
            </a:r>
            <a:r>
              <a:rPr lang="en-US" dirty="0"/>
              <a:t> Official Documentation – IoT Data Monitoring </a:t>
            </a:r>
            <a:r>
              <a:rPr lang="en-US" dirty="0" err="1"/>
              <a:t>Platformps</a:t>
            </a:r>
            <a:r>
              <a:rPr lang="en-US" dirty="0"/>
              <a:t> </a:t>
            </a:r>
            <a:r>
              <a:rPr lang="en-US" dirty="0">
                <a:hlinkClick r:id="rId4"/>
              </a:rPr>
              <a:t>https://thingspeak.com/docs</a:t>
            </a:r>
            <a:endParaRPr lang="en-US" dirty="0"/>
          </a:p>
          <a:p>
            <a:pPr marL="461962">
              <a:buFont typeface="+mj-lt"/>
              <a:buAutoNum type="arabicParenR"/>
            </a:pPr>
            <a:r>
              <a:rPr lang="en-US" dirty="0"/>
              <a:t>TensorFlow Official Documentation – Machine Learning Library </a:t>
            </a:r>
            <a:r>
              <a:rPr lang="en-US" dirty="0">
                <a:hlinkClick r:id="rId5"/>
              </a:rPr>
              <a:t>https://www.tensorflow.org/</a:t>
            </a:r>
            <a:endParaRPr lang="en-US" dirty="0"/>
          </a:p>
          <a:p>
            <a:pPr marL="461962">
              <a:buFont typeface="+mj-lt"/>
              <a:buAutoNum type="arabicParenR"/>
            </a:pPr>
            <a:r>
              <a:rPr lang="en-US" dirty="0"/>
              <a:t>Arduino Official Documentation</a:t>
            </a:r>
          </a:p>
          <a:p>
            <a:pPr marL="119062" indent="0">
              <a:buNone/>
            </a:pPr>
            <a:r>
              <a:rPr lang="en-US" dirty="0"/>
              <a:t>       </a:t>
            </a:r>
            <a:r>
              <a:rPr lang="en-US" dirty="0">
                <a:hlinkClick r:id="rId6"/>
              </a:rPr>
              <a:t>https://www.arduino.cc/reference/en/</a:t>
            </a:r>
            <a:endParaRPr lang="en-US" dirty="0"/>
          </a:p>
          <a:p>
            <a:pPr marL="119062" indent="0">
              <a:buNone/>
            </a:pPr>
            <a:endParaRPr lang="en-IN" dirty="0"/>
          </a:p>
        </p:txBody>
      </p:sp>
      <p:sp>
        <p:nvSpPr>
          <p:cNvPr id="6" name="Date Placeholder 5"/>
          <p:cNvSpPr>
            <a:spLocks noGrp="1"/>
          </p:cNvSpPr>
          <p:nvPr>
            <p:ph type="dt" sz="half" idx="10"/>
          </p:nvPr>
        </p:nvSpPr>
        <p:spPr/>
        <p:txBody>
          <a:bodyPr/>
          <a:lstStyle/>
          <a:p>
            <a:pPr>
              <a:defRPr/>
            </a:pPr>
            <a:fld id="{C3AC3EE8-985B-42B6-9937-3D92CBED937D}" type="datetime3">
              <a:rPr lang="en-US" smtClean="0"/>
              <a:t>11 April 2026</a:t>
            </a:fld>
            <a:endParaRPr lang="en-US" dirty="0"/>
          </a:p>
        </p:txBody>
      </p:sp>
      <p:sp>
        <p:nvSpPr>
          <p:cNvPr id="8" name="Footer Placeholder 7"/>
          <p:cNvSpPr>
            <a:spLocks noGrp="1"/>
          </p:cNvSpPr>
          <p:nvPr>
            <p:ph type="ftr" sz="quarter" idx="11"/>
          </p:nvPr>
        </p:nvSpPr>
        <p:spPr>
          <a:xfrm>
            <a:off x="2640013" y="4857750"/>
            <a:ext cx="5963660" cy="206375"/>
          </a:xfrm>
        </p:spPr>
        <p:txBody>
          <a:bodyPr/>
          <a:lstStyle/>
          <a:p>
            <a:pPr>
              <a:defRPr/>
            </a:pPr>
            <a:r>
              <a:rPr lang="en-US" dirty="0"/>
              <a:t>BATCH NO:          DEPARTMENT OF COMPUTER SCIENCE &amp; ENGINEERING </a:t>
            </a:r>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17</a:t>
            </a:fld>
            <a:endParaRPr lang="en-US" altLang="en-US"/>
          </a:p>
        </p:txBody>
      </p:sp>
    </p:spTree>
    <p:extLst>
      <p:ext uri="{BB962C8B-B14F-4D97-AF65-F5344CB8AC3E}">
        <p14:creationId xmlns:p14="http://schemas.microsoft.com/office/powerpoint/2010/main" val="1653415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9062" indent="0" algn="ctr">
              <a:buNone/>
            </a:pPr>
            <a:endParaRPr lang="en-US" b="1" dirty="0"/>
          </a:p>
          <a:p>
            <a:pPr marL="119062" indent="0" algn="ctr">
              <a:buNone/>
            </a:pPr>
            <a:endParaRPr lang="en-US" b="1" dirty="0"/>
          </a:p>
          <a:p>
            <a:pPr marL="119062" indent="0" algn="ctr">
              <a:buNone/>
            </a:pPr>
            <a:endParaRPr lang="en-US" b="1" dirty="0"/>
          </a:p>
          <a:p>
            <a:pPr marL="119062" indent="0" algn="ctr">
              <a:buNone/>
            </a:pPr>
            <a:r>
              <a:rPr lang="en-US" b="1" dirty="0"/>
              <a:t>THANK YOU</a:t>
            </a:r>
            <a:endParaRPr lang="en-IN" b="1" dirty="0"/>
          </a:p>
        </p:txBody>
      </p:sp>
      <p:sp>
        <p:nvSpPr>
          <p:cNvPr id="6" name="Date Placeholder 5"/>
          <p:cNvSpPr>
            <a:spLocks noGrp="1"/>
          </p:cNvSpPr>
          <p:nvPr>
            <p:ph type="dt" sz="half" idx="10"/>
          </p:nvPr>
        </p:nvSpPr>
        <p:spPr/>
        <p:txBody>
          <a:bodyPr/>
          <a:lstStyle/>
          <a:p>
            <a:pPr>
              <a:defRPr/>
            </a:pPr>
            <a:fld id="{5AC31F9E-9B9F-4BF0-AFD1-DE8B874A094F}" type="datetime3">
              <a:rPr lang="en-US" smtClean="0"/>
              <a:t>11 April 2026</a:t>
            </a:fld>
            <a:endParaRPr lang="en-US" dirty="0"/>
          </a:p>
        </p:txBody>
      </p:sp>
      <p:sp>
        <p:nvSpPr>
          <p:cNvPr id="8" name="Footer Placeholder 7"/>
          <p:cNvSpPr>
            <a:spLocks noGrp="1"/>
          </p:cNvSpPr>
          <p:nvPr>
            <p:ph type="ftr" sz="quarter" idx="11"/>
          </p:nvPr>
        </p:nvSpPr>
        <p:spPr>
          <a:xfrm>
            <a:off x="2043545" y="4857750"/>
            <a:ext cx="6105093" cy="206375"/>
          </a:xfrm>
        </p:spPr>
        <p:txBody>
          <a:bodyPr/>
          <a:lstStyle/>
          <a:p>
            <a:pPr>
              <a:defRPr/>
            </a:pPr>
            <a:r>
              <a:rPr lang="en-US"/>
              <a:t>BATCH NO:          DEPARTMENT OF COMPUTER SCIENCE &amp; ENGINEERING </a:t>
            </a:r>
            <a:endParaRPr lang="en-US" dirty="0"/>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18</a:t>
            </a:fld>
            <a:endParaRPr lang="en-US" altLang="en-US"/>
          </a:p>
        </p:txBody>
      </p:sp>
    </p:spTree>
    <p:extLst>
      <p:ext uri="{BB962C8B-B14F-4D97-AF65-F5344CB8AC3E}">
        <p14:creationId xmlns:p14="http://schemas.microsoft.com/office/powerpoint/2010/main" val="3948109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TotalTime>
  <Words>1202</Words>
  <Application>Microsoft Office PowerPoint</Application>
  <PresentationFormat>On-screen Show (16:9)</PresentationFormat>
  <Paragraphs>192</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Open Sans Extra Bold</vt:lpstr>
      <vt:lpstr>Poppins Bold</vt:lpstr>
      <vt:lpstr>Times New Roman</vt:lpstr>
      <vt:lpstr>Office Theme</vt:lpstr>
      <vt:lpstr>PowerPoint Presentation</vt:lpstr>
      <vt:lpstr>SMART HOME ANOMALY DETECTION USING  IOT &amp; MACHINE LEARNING</vt:lpstr>
      <vt:lpstr>Introduction</vt:lpstr>
      <vt:lpstr>Literature Survey </vt:lpstr>
      <vt:lpstr>Problem Statement</vt:lpstr>
      <vt:lpstr>Proposed Methodology</vt:lpstr>
      <vt:lpstr>Proposed System Architecture</vt:lpstr>
      <vt:lpstr>Summary of Module -1  </vt:lpstr>
      <vt:lpstr>Summary of   Module -2  </vt:lpstr>
      <vt:lpstr>Summary of  Modules -3  </vt:lpstr>
      <vt:lpstr>Summary of   Modules -4  </vt:lpstr>
      <vt:lpstr> Implementation Details </vt:lpstr>
      <vt:lpstr>Testing &amp; Validation </vt:lpstr>
      <vt:lpstr>Preliminary Results &amp; Analysis </vt:lpstr>
      <vt:lpstr>Software &amp; Hardware Requirements  Specification </vt:lpstr>
      <vt:lpstr>Conclusion and Future Work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Chanda Jayaprakash</cp:lastModifiedBy>
  <cp:revision>33</cp:revision>
  <dcterms:modified xsi:type="dcterms:W3CDTF">2026-04-11T07:09:45Z</dcterms:modified>
</cp:coreProperties>
</file>